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charts/chart1.xml" ContentType="application/vnd.openxmlformats-officedocument.drawingml.chart+xml"/>
  <Override PartName="/ppt/charts/chart2.xml" ContentType="application/vnd.openxmlformats-officedocument.drawingml.chart+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3.xml" ContentType="application/vnd.openxmlformats-officedocument.drawingml.chart+xml"/>
  <Override PartName="/ppt/charts/chart4.xml" ContentType="application/vnd.openxmlformats-officedocument.drawingml.chart+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ck" id="{A9C55D3E-BC5D-6087-6C3D-0D3E72381BA2}">
          <p14:sldIdLst>
            <p14:sldId id="256"/>
            <p14:sldId id="257"/>
            <p14:sldId id="258"/>
            <p14:sldId id="259"/>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9" d="100"/>
          <a:sy n="79" d="100"/>
        </p:scale>
        <p:origin x="101" y="14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 late</c:v>
                </c:pt>
              </c:strCache>
            </c:strRef>
          </c:tx>
          <c:spPr>
            <a:solidFill>
              <a:srgbClr val="0E7C70"/>
            </a:solidFill>
            <a:effectLst/>
          </c:spPr>
          <c:invertIfNegative val="0"/>
          <c:dLbls>
            <c:numFmt formatCode="0.0&quot;%&quot;" sourceLinked="0"/>
            <c:spPr>
              <a:noFill/>
              <a:ln>
                <a:noFill/>
              </a:ln>
              <a:effectLst/>
            </c:spPr>
            <c:txPr>
              <a:bodyPr/>
              <a:lstStyle/>
              <a:p>
                <a:pPr>
                  <a:defRPr sz="1400" b="1" i="0" u="none" strike="noStrike">
                    <a:solidFill>
                      <a:srgbClr val="0E2B2A"/>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Critical</c:v>
                </c:pt>
                <c:pt idx="1">
                  <c:v>High</c:v>
                </c:pt>
                <c:pt idx="2">
                  <c:v>Medium</c:v>
                </c:pt>
                <c:pt idx="3">
                  <c:v>Low</c:v>
                </c:pt>
              </c:strCache>
            </c:strRef>
          </c:cat>
          <c:val>
            <c:numRef>
              <c:f>Sheet1!$B$2:$B$5</c:f>
              <c:numCache>
                <c:formatCode>General</c:formatCode>
                <c:ptCount val="4"/>
                <c:pt idx="0">
                  <c:v>20.6</c:v>
                </c:pt>
                <c:pt idx="1">
                  <c:v>22.4</c:v>
                </c:pt>
                <c:pt idx="2">
                  <c:v>20.3</c:v>
                </c:pt>
                <c:pt idx="3">
                  <c:v>20</c:v>
                </c:pt>
              </c:numCache>
            </c:numRef>
          </c:val>
          <c:extLst>
            <c:ext xmlns:c16="http://schemas.microsoft.com/office/drawing/2014/chart" uri="{C3380CC4-5D6E-409C-BE32-E72D297353CC}">
              <c16:uniqueId val="{00000000-9018-4B22-AC1B-6349BCB10237}"/>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E2B2A"/>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bar"/>
        <c:grouping val="clustered"/>
        <c:varyColors val="0"/>
        <c:ser>
          <c:idx val="0"/>
          <c:order val="0"/>
          <c:tx>
            <c:strRef>
              <c:f>Sheet1!$B$1</c:f>
              <c:strCache>
                <c:ptCount val="1"/>
                <c:pt idx="0">
                  <c:v>% solved first contact</c:v>
                </c:pt>
              </c:strCache>
            </c:strRef>
          </c:tx>
          <c:spPr>
            <a:solidFill>
              <a:srgbClr val="B23A26"/>
            </a:solidFill>
            <a:effectLst/>
          </c:spPr>
          <c:invertIfNegative val="0"/>
          <c:dPt>
            <c:idx val="0"/>
            <c:invertIfNegative val="0"/>
            <c:bubble3D val="0"/>
            <c:spPr>
              <a:solidFill>
                <a:srgbClr val="B23A26"/>
              </a:solidFill>
              <a:effectLst/>
            </c:spPr>
            <c:extLst>
              <c:ext xmlns:c16="http://schemas.microsoft.com/office/drawing/2014/chart" uri="{C3380CC4-5D6E-409C-BE32-E72D297353CC}">
                <c16:uniqueId val="{00000001-7A07-4EAB-978D-85B7275C5E07}"/>
              </c:ext>
            </c:extLst>
          </c:dPt>
          <c:dPt>
            <c:idx val="1"/>
            <c:invertIfNegative val="0"/>
            <c:bubble3D val="0"/>
            <c:spPr>
              <a:solidFill>
                <a:srgbClr val="9CC8BF"/>
              </a:solidFill>
              <a:effectLst/>
            </c:spPr>
            <c:extLst>
              <c:ext xmlns:c16="http://schemas.microsoft.com/office/drawing/2014/chart" uri="{C3380CC4-5D6E-409C-BE32-E72D297353CC}">
                <c16:uniqueId val="{00000003-7A07-4EAB-978D-85B7275C5E07}"/>
              </c:ext>
            </c:extLst>
          </c:dPt>
          <c:dPt>
            <c:idx val="2"/>
            <c:invertIfNegative val="0"/>
            <c:bubble3D val="0"/>
            <c:spPr>
              <a:solidFill>
                <a:srgbClr val="9CC8BF"/>
              </a:solidFill>
              <a:effectLst/>
            </c:spPr>
            <c:extLst>
              <c:ext xmlns:c16="http://schemas.microsoft.com/office/drawing/2014/chart" uri="{C3380CC4-5D6E-409C-BE32-E72D297353CC}">
                <c16:uniqueId val="{00000005-7A07-4EAB-978D-85B7275C5E07}"/>
              </c:ext>
            </c:extLst>
          </c:dPt>
          <c:dPt>
            <c:idx val="3"/>
            <c:invertIfNegative val="0"/>
            <c:bubble3D val="0"/>
            <c:spPr>
              <a:solidFill>
                <a:srgbClr val="9CC8BF"/>
              </a:solidFill>
              <a:effectLst/>
            </c:spPr>
            <c:extLst>
              <c:ext xmlns:c16="http://schemas.microsoft.com/office/drawing/2014/chart" uri="{C3380CC4-5D6E-409C-BE32-E72D297353CC}">
                <c16:uniqueId val="{00000007-7A07-4EAB-978D-85B7275C5E07}"/>
              </c:ext>
            </c:extLst>
          </c:dPt>
          <c:dPt>
            <c:idx val="4"/>
            <c:invertIfNegative val="0"/>
            <c:bubble3D val="0"/>
            <c:spPr>
              <a:solidFill>
                <a:srgbClr val="9CC8BF"/>
              </a:solidFill>
              <a:effectLst/>
            </c:spPr>
            <c:extLst>
              <c:ext xmlns:c16="http://schemas.microsoft.com/office/drawing/2014/chart" uri="{C3380CC4-5D6E-409C-BE32-E72D297353CC}">
                <c16:uniqueId val="{00000009-7A07-4EAB-978D-85B7275C5E07}"/>
              </c:ext>
            </c:extLst>
          </c:dPt>
          <c:dPt>
            <c:idx val="5"/>
            <c:invertIfNegative val="0"/>
            <c:bubble3D val="0"/>
            <c:spPr>
              <a:solidFill>
                <a:srgbClr val="9CC8BF"/>
              </a:solidFill>
              <a:effectLst/>
            </c:spPr>
            <c:extLst>
              <c:ext xmlns:c16="http://schemas.microsoft.com/office/drawing/2014/chart" uri="{C3380CC4-5D6E-409C-BE32-E72D297353CC}">
                <c16:uniqueId val="{0000000B-7A07-4EAB-978D-85B7275C5E07}"/>
              </c:ext>
            </c:extLst>
          </c:dPt>
          <c:dLbls>
            <c:numFmt formatCode="0&quot;%&quot;" sourceLinked="0"/>
            <c:spPr>
              <a:noFill/>
              <a:ln>
                <a:noFill/>
              </a:ln>
              <a:effectLst/>
            </c:spPr>
            <c:txPr>
              <a:bodyPr/>
              <a:lstStyle/>
              <a:p>
                <a:pPr>
                  <a:defRPr sz="1400" b="1" i="0" u="none" strike="noStrike">
                    <a:solidFill>
                      <a:srgbClr val="0E2B2A"/>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Complaints</c:v>
                </c:pt>
                <c:pt idx="1">
                  <c:v>Retention</c:v>
                </c:pt>
                <c:pt idx="2">
                  <c:v>Commercial</c:v>
                </c:pt>
                <c:pt idx="3">
                  <c:v>Technical</c:v>
                </c:pt>
                <c:pt idx="4">
                  <c:v>Products</c:v>
                </c:pt>
                <c:pt idx="5">
                  <c:v>Transactions</c:v>
                </c:pt>
              </c:strCache>
            </c:strRef>
          </c:cat>
          <c:val>
            <c:numRef>
              <c:f>Sheet1!$B$2:$B$7</c:f>
              <c:numCache>
                <c:formatCode>General</c:formatCode>
                <c:ptCount val="6"/>
                <c:pt idx="0">
                  <c:v>43.3</c:v>
                </c:pt>
                <c:pt idx="1">
                  <c:v>61.6</c:v>
                </c:pt>
                <c:pt idx="2">
                  <c:v>66.099999999999994</c:v>
                </c:pt>
                <c:pt idx="3">
                  <c:v>69.8</c:v>
                </c:pt>
                <c:pt idx="4">
                  <c:v>89.7</c:v>
                </c:pt>
                <c:pt idx="5">
                  <c:v>91.8</c:v>
                </c:pt>
              </c:numCache>
            </c:numRef>
          </c:val>
          <c:extLst>
            <c:ext xmlns:c16="http://schemas.microsoft.com/office/drawing/2014/chart" uri="{C3380CC4-5D6E-409C-BE32-E72D297353CC}">
              <c16:uniqueId val="{0000000C-7A07-4EAB-978D-85B7275C5E07}"/>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E2B2A"/>
                </a:solidFill>
                <a:latin typeface="+mn-lt"/>
              </a:defRPr>
            </a:pPr>
            <a:endParaRPr lang="en-US"/>
          </a:p>
        </c:txPr>
        <c:crossAx val="2094734552"/>
        <c:crosses val="autoZero"/>
        <c:auto val="1"/>
        <c:lblAlgn val="ctr"/>
        <c:lblOffset val="100"/>
        <c:noMultiLvlLbl val="1"/>
      </c:catAx>
      <c:valAx>
        <c:axId val="2094734552"/>
        <c:scaling>
          <c:orientation val="minMax"/>
          <c:max val="11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col"/>
        <c:grouping val="clustered"/>
        <c:varyColors val="0"/>
        <c:ser>
          <c:idx val="0"/>
          <c:order val="0"/>
          <c:tx>
            <c:strRef>
              <c:f>Sheet1!$B$1</c:f>
              <c:strCache>
                <c:ptCount val="1"/>
                <c:pt idx="0">
                  <c:v>Simple rule (fixed keywords or one amount limit)</c:v>
                </c:pt>
              </c:strCache>
            </c:strRef>
          </c:tx>
          <c:spPr>
            <a:solidFill>
              <a:srgbClr val="9CC8BF"/>
            </a:solidFill>
            <a:effectLst/>
          </c:spPr>
          <c:invertIfNegative val="0"/>
          <c:dLbls>
            <c:numFmt formatCode="0" sourceLinked="0"/>
            <c:spPr>
              <a:noFill/>
              <a:ln>
                <a:noFill/>
              </a:ln>
              <a:effectLst/>
            </c:spPr>
            <c:txPr>
              <a:bodyPr/>
              <a:lstStyle/>
              <a:p>
                <a:pPr>
                  <a:defRPr sz="1400" b="1" i="0" u="none" strike="noStrike">
                    <a:solidFill>
                      <a:srgbClr val="0E2B2A"/>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Understanding what customers ask</c:v>
                </c:pt>
                <c:pt idx="1">
                  <c:v>Spotting high-risk cases</c:v>
                </c:pt>
              </c:strCache>
            </c:strRef>
          </c:cat>
          <c:val>
            <c:numRef>
              <c:f>Sheet1!$B$2:$B$3</c:f>
              <c:numCache>
                <c:formatCode>General</c:formatCode>
                <c:ptCount val="2"/>
                <c:pt idx="0">
                  <c:v>45</c:v>
                </c:pt>
                <c:pt idx="1">
                  <c:v>62</c:v>
                </c:pt>
              </c:numCache>
            </c:numRef>
          </c:val>
          <c:extLst>
            <c:ext xmlns:c16="http://schemas.microsoft.com/office/drawing/2014/chart" uri="{C3380CC4-5D6E-409C-BE32-E72D297353CC}">
              <c16:uniqueId val="{00000000-D97B-4927-9F45-6C539217399F}"/>
            </c:ext>
          </c:extLst>
        </c:ser>
        <c:ser>
          <c:idx val="1"/>
          <c:order val="1"/>
          <c:tx>
            <c:strRef>
              <c:f>Sheet1!$C$1</c:f>
              <c:strCache>
                <c:ptCount val="1"/>
                <c:pt idx="0">
                  <c:v>Our model (learns from examples)</c:v>
                </c:pt>
              </c:strCache>
            </c:strRef>
          </c:tx>
          <c:spPr>
            <a:solidFill>
              <a:srgbClr val="0E7C70"/>
            </a:solidFill>
            <a:effectLst/>
          </c:spPr>
          <c:invertIfNegative val="0"/>
          <c:dLbls>
            <c:numFmt formatCode="0" sourceLinked="0"/>
            <c:spPr>
              <a:noFill/>
              <a:ln>
                <a:noFill/>
              </a:ln>
              <a:effectLst/>
            </c:spPr>
            <c:txPr>
              <a:bodyPr/>
              <a:lstStyle/>
              <a:p>
                <a:pPr>
                  <a:defRPr sz="1400" b="1" i="0" u="none" strike="noStrike">
                    <a:solidFill>
                      <a:srgbClr val="0E2B2A"/>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Understanding what customers ask</c:v>
                </c:pt>
                <c:pt idx="1">
                  <c:v>Spotting high-risk cases</c:v>
                </c:pt>
              </c:strCache>
            </c:strRef>
          </c:cat>
          <c:val>
            <c:numRef>
              <c:f>Sheet1!$C$2:$C$3</c:f>
              <c:numCache>
                <c:formatCode>General</c:formatCode>
                <c:ptCount val="2"/>
                <c:pt idx="0">
                  <c:v>89</c:v>
                </c:pt>
                <c:pt idx="1">
                  <c:v>79</c:v>
                </c:pt>
              </c:numCache>
            </c:numRef>
          </c:val>
          <c:extLst>
            <c:ext xmlns:c16="http://schemas.microsoft.com/office/drawing/2014/chart" uri="{C3380CC4-5D6E-409C-BE32-E72D297353CC}">
              <c16:uniqueId val="{00000001-D97B-4927-9F45-6C539217399F}"/>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0E2B2A"/>
                </a:solidFill>
                <a:latin typeface="+mn-lt"/>
              </a:defRPr>
            </a:pPr>
            <a:endParaRPr lang="en-US"/>
          </a:p>
        </c:txPr>
        <c:crossAx val="2094734552"/>
        <c:crosses val="autoZero"/>
        <c:auto val="1"/>
        <c:lblAlgn val="ctr"/>
        <c:lblOffset val="100"/>
        <c:noMultiLvlLbl val="1"/>
      </c:catAx>
      <c:valAx>
        <c:axId val="2094734552"/>
        <c:scaling>
          <c:orientation val="minMax"/>
          <c:max val="10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200">
              <a:solidFill>
                <a:srgbClr val="0E2B2A"/>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MX"/>
  <c:roundedCorners val="1"/>
  <c:style val="2"/>
  <c:chart>
    <c:autoTitleDeleted val="1"/>
    <c:plotArea>
      <c:layout/>
      <c:barChart>
        <c:barDir val="bar"/>
        <c:grouping val="clustered"/>
        <c:varyColors val="0"/>
        <c:ser>
          <c:idx val="0"/>
          <c:order val="0"/>
          <c:tx>
            <c:strRef>
              <c:f>Sheet1!$B$1</c:f>
              <c:strCache>
                <c:ptCount val="1"/>
                <c:pt idx="0">
                  <c:v>Importance</c:v>
                </c:pt>
              </c:strCache>
            </c:strRef>
          </c:tx>
          <c:spPr>
            <a:solidFill>
              <a:srgbClr val="9CC8BF"/>
            </a:solidFill>
            <a:effectLst/>
          </c:spPr>
          <c:invertIfNegative val="0"/>
          <c:dPt>
            <c:idx val="0"/>
            <c:invertIfNegative val="0"/>
            <c:bubble3D val="0"/>
            <c:spPr>
              <a:solidFill>
                <a:srgbClr val="9CC8BF"/>
              </a:solidFill>
              <a:effectLst/>
            </c:spPr>
            <c:extLst>
              <c:ext xmlns:c16="http://schemas.microsoft.com/office/drawing/2014/chart" uri="{C3380CC4-5D6E-409C-BE32-E72D297353CC}">
                <c16:uniqueId val="{00000001-D9E6-466B-B6AA-91C8D853866A}"/>
              </c:ext>
            </c:extLst>
          </c:dPt>
          <c:dPt>
            <c:idx val="1"/>
            <c:invertIfNegative val="0"/>
            <c:bubble3D val="0"/>
            <c:spPr>
              <a:solidFill>
                <a:srgbClr val="9CC8BF"/>
              </a:solidFill>
              <a:effectLst/>
            </c:spPr>
            <c:extLst>
              <c:ext xmlns:c16="http://schemas.microsoft.com/office/drawing/2014/chart" uri="{C3380CC4-5D6E-409C-BE32-E72D297353CC}">
                <c16:uniqueId val="{00000003-D9E6-466B-B6AA-91C8D853866A}"/>
              </c:ext>
            </c:extLst>
          </c:dPt>
          <c:dPt>
            <c:idx val="2"/>
            <c:invertIfNegative val="0"/>
            <c:bubble3D val="0"/>
            <c:spPr>
              <a:solidFill>
                <a:srgbClr val="9CC8BF"/>
              </a:solidFill>
              <a:effectLst/>
            </c:spPr>
            <c:extLst>
              <c:ext xmlns:c16="http://schemas.microsoft.com/office/drawing/2014/chart" uri="{C3380CC4-5D6E-409C-BE32-E72D297353CC}">
                <c16:uniqueId val="{00000005-D9E6-466B-B6AA-91C8D853866A}"/>
              </c:ext>
            </c:extLst>
          </c:dPt>
          <c:dPt>
            <c:idx val="3"/>
            <c:invertIfNegative val="0"/>
            <c:bubble3D val="0"/>
            <c:spPr>
              <a:solidFill>
                <a:srgbClr val="0E7C70"/>
              </a:solidFill>
              <a:effectLst/>
            </c:spPr>
            <c:extLst>
              <c:ext xmlns:c16="http://schemas.microsoft.com/office/drawing/2014/chart" uri="{C3380CC4-5D6E-409C-BE32-E72D297353CC}">
                <c16:uniqueId val="{00000007-D9E6-466B-B6AA-91C8D853866A}"/>
              </c:ext>
            </c:extLst>
          </c:dPt>
          <c:dPt>
            <c:idx val="4"/>
            <c:invertIfNegative val="0"/>
            <c:bubble3D val="0"/>
            <c:spPr>
              <a:solidFill>
                <a:srgbClr val="0E7C70"/>
              </a:solidFill>
              <a:effectLst/>
            </c:spPr>
            <c:extLst>
              <c:ext xmlns:c16="http://schemas.microsoft.com/office/drawing/2014/chart" uri="{C3380CC4-5D6E-409C-BE32-E72D297353CC}">
                <c16:uniqueId val="{00000009-D9E6-466B-B6AA-91C8D853866A}"/>
              </c:ext>
            </c:extLst>
          </c:dPt>
          <c:dLbls>
            <c:numFmt formatCode="0&quot;%&quot;" sourceLinked="0"/>
            <c:spPr>
              <a:noFill/>
              <a:ln>
                <a:noFill/>
              </a:ln>
              <a:effectLst/>
            </c:spPr>
            <c:txPr>
              <a:bodyPr/>
              <a:lstStyle/>
              <a:p>
                <a:pPr>
                  <a:defRPr sz="1400" b="1" i="0" u="none" strike="noStrike">
                    <a:solidFill>
                      <a:srgbClr val="0E2B2A"/>
                    </a:solidFill>
                    <a:latin typeface="+mn-lt"/>
                  </a:defRPr>
                </a:pPr>
                <a:endParaRPr lang="es-GT"/>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Transaction dispute</c:v>
                </c:pt>
                <c:pt idx="1">
                  <c:v>Fee-related dispute</c:v>
                </c:pt>
                <c:pt idx="2">
                  <c:v>Amount missing in record</c:v>
                </c:pt>
                <c:pt idx="3">
                  <c:v>Amount claimed</c:v>
                </c:pt>
                <c:pt idx="4">
                  <c:v>Complained before</c:v>
                </c:pt>
              </c:strCache>
            </c:strRef>
          </c:cat>
          <c:val>
            <c:numRef>
              <c:f>Sheet1!$B$2:$B$6</c:f>
              <c:numCache>
                <c:formatCode>General</c:formatCode>
                <c:ptCount val="5"/>
                <c:pt idx="0">
                  <c:v>5</c:v>
                </c:pt>
                <c:pt idx="1">
                  <c:v>6</c:v>
                </c:pt>
                <c:pt idx="2">
                  <c:v>8</c:v>
                </c:pt>
                <c:pt idx="3">
                  <c:v>20</c:v>
                </c:pt>
                <c:pt idx="4">
                  <c:v>23</c:v>
                </c:pt>
              </c:numCache>
            </c:numRef>
          </c:val>
          <c:extLst>
            <c:ext xmlns:c16="http://schemas.microsoft.com/office/drawing/2014/chart" uri="{C3380CC4-5D6E-409C-BE32-E72D297353CC}">
              <c16:uniqueId val="{0000000A-D9E6-466B-B6AA-91C8D853866A}"/>
            </c:ext>
          </c:extLst>
        </c:ser>
        <c:dLbls>
          <c:showLegendKey val="0"/>
          <c:showVal val="1"/>
          <c:showCatName val="0"/>
          <c:showSerName val="0"/>
          <c:showPercent val="0"/>
          <c:showBubbleSize val="0"/>
        </c:dLbls>
        <c:gapWidth val="4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0E2B2A"/>
                </a:solidFill>
                <a:latin typeface="+mn-lt"/>
              </a:defRPr>
            </a:pPr>
            <a:endParaRPr lang="en-US"/>
          </a:p>
        </c:txPr>
        <c:crossAx val="2094734552"/>
        <c:crosses val="autoZero"/>
        <c:auto val="1"/>
        <c:lblAlgn val="ctr"/>
        <c:lblOffset val="100"/>
        <c:noMultiLvlLbl val="1"/>
      </c:catAx>
      <c:valAx>
        <c:axId val="2094734552"/>
        <c:scaling>
          <c:orientation val="minMax"/>
          <c:max val="30"/>
          <c:min val="0"/>
        </c:scaling>
        <c:delete val="1"/>
        <c:axPos val="b"/>
        <c:numFmt formatCode="General" sourceLinked="0"/>
        <c:majorTickMark val="out"/>
        <c:minorTickMark val="none"/>
        <c:tickLblPos val="low"/>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693934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 we built an agent that resolves card-dispute conversations for Banco LATAM. The key idea: the model talks, but the code holds the permissions.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Situation: ~2,093 unrecognized-charge disputes a year, US$2,458 average, ~22% late. Complication: priority labels do not predict lateness (about 20-22% in every group), and complaints get solved at first contact 43% of the time vs 90% for transactions. Question: how to automate with control.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the live demo. The conversation is in Spanish or Portuguese with an English subtitle under every message; on the right an auditor sees every tool that ran and what the code decided. Here the charge is under US$300 with no fraud signal, so the refund is approved on the spot. On the right are the three outcomes, using real customers from the dataset that are preloaded in the demo: auto-approved, standard review (above the limit but low risk, neither approved nor escalated) and human escalation (above US$1,500). A fourth demo customer shows fraud: score 79 goes to the fraud team even though the amount is small. Same code path in Spanish and Portuguese.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is a score that adds points for: amount above the typical claim, prior complaints on record (bank data, not what the customer says), high-severity category, regulator channel and high-value customer. Two points or more = high risk. Walk the flow left to right. If the model is manipulated, it still cannot move these limits. If there is no API key or the model fails, a deterministic agent with the same tools and permissions answers. Columns: green = go, amber = review, red = human.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*Illustrative: 2,093 disputes a year x 61% containment (measured on 170 test conversations) = ~1,280. Scores are macro F1 x100. Simple rule = keyword list (intent, 0.451) and a single amount threshold (risk, 0.623). Our models: TF-IDF + logistic regression (0.887) and a random forest on combined factors (0.791). Bars on the right are relative feature importance from the risk model. Safety and speed figures come from 170 real-data conversations, ES + PT, with the rule-based agent (no LLM). Intent was tested on phrasings the model never saw.</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Sign-in and users: the demo uses the 150,000 existing customers (any Active one can sign in with document + name); we did not add users because creating and authenticating customers belongs to the bank's core system and real authentication (OTP, biometrics). Inactive customers are rejected, and only charges from the last 90 days can be disputed. Be upfront about friendly fraud: a customer who really made the purchase and disputes it anyway cannot be detected with this data. What protects the bank today: the US$300 automatic cap, risk from prior complaints, one dispute per charge, and a full audit trace. Next step: escalate customers with 3+ disputes in 30 days and check prior payments to the same merchant. Frame limits as the roadmap, not as weaknesses: the gate does not depend on the model behaving well. What remains is real data, real integration and production hardening. The ask is a pilot.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chemeClr val="bg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rtlCol="0"/>
          <a:lstStyle>
            <a:lvl1pPr marL="0" indent="0" algn="l">
              <a:buNone/>
              <a:defRPr lang="en-US" sz="3400" b="1" dirty="0">
                <a:solidFill>
                  <a:schemeClr val="tx1"/>
                </a:solidFill>
                <a:latin typeface="Calibri" pitchFamily="34" charset="0"/>
                <a:ea typeface="Calibri" pitchFamily="34" charset="-122"/>
                <a:cs typeface="Calibri" pitchFamily="34" charset="-120"/>
              </a:defRPr>
            </a:lvl1pPr>
          </a:lstStyle>
          <a:p>
            <a:pPr marL="0" indent="0" algn="l">
              <a:buNone/>
            </a:pPr>
            <a:endParaRPr lang="en-US" sz="3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chart" Target="../charts/char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731520" y="640080"/>
            <a:ext cx="8229600" cy="365760"/>
          </a:xfrm>
          <a:prstGeom prst="rect">
            <a:avLst/>
          </a:prstGeom>
          <a:noFill/>
          <a:ln/>
        </p:spPr>
        <p:txBody>
          <a:bodyPr wrap="square" lIns="0" tIns="0" rIns="0" bIns="0" rtlCol="0" anchor="t"/>
          <a:lstStyle/>
          <a:p>
            <a:pPr marL="0" indent="0">
              <a:buNone/>
            </a:pPr>
            <a:r>
              <a:rPr lang="en-US" sz="1400" b="1" kern="0" spc="300" dirty="0">
                <a:solidFill>
                  <a:srgbClr val="9CC8BF"/>
                </a:solidFill>
                <a:latin typeface="Calibri" pitchFamily="34" charset="0"/>
                <a:ea typeface="Calibri" pitchFamily="34" charset="-122"/>
                <a:cs typeface="Calibri" pitchFamily="34" charset="-120"/>
              </a:rPr>
              <a:t>FACTORED AI &amp; DATA HACKATHON 2026</a:t>
            </a:r>
            <a:endParaRPr lang="en-US" sz="1400" dirty="0"/>
          </a:p>
        </p:txBody>
      </p:sp>
      <p:sp>
        <p:nvSpPr>
          <p:cNvPr id="3" name="Text 1"/>
          <p:cNvSpPr txBox="1"/>
          <p:nvPr/>
        </p:nvSpPr>
        <p:spPr>
          <a:xfrm>
            <a:off x="731520" y="1188720"/>
            <a:ext cx="10515600" cy="1097280"/>
          </a:xfrm>
          <a:prstGeom prst="rect">
            <a:avLst/>
          </a:prstGeom>
          <a:noFill/>
          <a:ln/>
        </p:spPr>
        <p:txBody>
          <a:bodyPr wrap="square" lIns="0" tIns="0" rIns="0" bIns="0" rtlCol="0" anchor="t"/>
          <a:lstStyle/>
          <a:p>
            <a:pPr marL="0" indent="0">
              <a:buNone/>
            </a:pPr>
            <a:r>
              <a:rPr lang="en-US" sz="6600" b="1" dirty="0">
                <a:solidFill>
                  <a:schemeClr val="bg1"/>
                </a:solidFill>
                <a:latin typeface="Calibri" pitchFamily="34" charset="0"/>
                <a:ea typeface="Calibri" pitchFamily="34" charset="-122"/>
                <a:cs typeface="Calibri" pitchFamily="34" charset="-120"/>
              </a:rPr>
              <a:t>Disputes with limits</a:t>
            </a:r>
            <a:endParaRPr lang="en-US" sz="6600" dirty="0"/>
          </a:p>
        </p:txBody>
      </p:sp>
      <p:sp>
        <p:nvSpPr>
          <p:cNvPr id="4" name="Text 2"/>
          <p:cNvSpPr txBox="1"/>
          <p:nvPr/>
        </p:nvSpPr>
        <p:spPr>
          <a:xfrm>
            <a:off x="731520" y="2331720"/>
            <a:ext cx="10058400" cy="640080"/>
          </a:xfrm>
          <a:prstGeom prst="rect">
            <a:avLst/>
          </a:prstGeom>
          <a:noFill/>
          <a:ln/>
        </p:spPr>
        <p:txBody>
          <a:bodyPr wrap="square" lIns="0" tIns="0" rIns="0" bIns="0" rtlCol="0" anchor="t"/>
          <a:lstStyle/>
          <a:p>
            <a:pPr marL="0" indent="0">
              <a:buNone/>
            </a:pPr>
            <a:r>
              <a:rPr lang="en-US" sz="3000" b="1" dirty="0">
                <a:solidFill>
                  <a:srgbClr val="9CC8BF"/>
                </a:solidFill>
                <a:latin typeface="Calibri" pitchFamily="34" charset="0"/>
                <a:ea typeface="Calibri" pitchFamily="34" charset="-122"/>
                <a:cs typeface="Calibri" pitchFamily="34" charset="-120"/>
              </a:rPr>
              <a:t>Instant refunds for customers. Zero overreach for the bank.</a:t>
            </a:r>
            <a:endParaRPr lang="en-US" sz="3000" dirty="0"/>
          </a:p>
        </p:txBody>
      </p:sp>
      <p:sp>
        <p:nvSpPr>
          <p:cNvPr id="5" name="Text 3"/>
          <p:cNvSpPr txBox="1"/>
          <p:nvPr/>
        </p:nvSpPr>
        <p:spPr>
          <a:xfrm>
            <a:off x="731520" y="3108960"/>
            <a:ext cx="8595360" cy="914400"/>
          </a:xfrm>
          <a:prstGeom prst="rect">
            <a:avLst/>
          </a:prstGeom>
          <a:noFill/>
          <a:ln/>
        </p:spPr>
        <p:txBody>
          <a:bodyPr wrap="square" lIns="0" tIns="0" rIns="0" bIns="0" rtlCol="0" anchor="t"/>
          <a:lstStyle/>
          <a:p>
            <a:pPr marL="0" indent="0">
              <a:buNone/>
            </a:pPr>
            <a:r>
              <a:rPr lang="en-US" sz="2000" dirty="0">
                <a:solidFill>
                  <a:srgbClr val="D5EBE6"/>
                </a:solidFill>
                <a:latin typeface="Calibri" pitchFamily="34" charset="0"/>
                <a:ea typeface="Calibri" pitchFamily="34" charset="-122"/>
                <a:cs typeface="Calibri" pitchFamily="34" charset="-120"/>
              </a:rPr>
              <a:t>An AI agent that resolves unrecognized-charge disputes at Banco LATAM in Spanish and Portuguese, with approval limits written in code, not in the prompt.</a:t>
            </a:r>
            <a:endParaRPr lang="en-US" sz="2000" dirty="0"/>
          </a:p>
        </p:txBody>
      </p:sp>
      <p:sp>
        <p:nvSpPr>
          <p:cNvPr id="6" name="stat0"/>
          <p:cNvSpPr/>
          <p:nvPr/>
        </p:nvSpPr>
        <p:spPr>
          <a:xfrm>
            <a:off x="2577581" y="4160520"/>
            <a:ext cx="3337560" cy="1280160"/>
          </a:xfrm>
          <a:prstGeom prst="roundRect">
            <a:avLst>
              <a:gd name="adj" fmla="val 8571"/>
            </a:avLst>
          </a:prstGeom>
          <a:solidFill>
            <a:schemeClr val="accent5">
              <a:alpha val="15000"/>
            </a:schemeClr>
          </a:solidFill>
          <a:ln w="9525">
            <a:solidFill>
              <a:schemeClr val="accent5"/>
            </a:solidFill>
            <a:prstDash val="solid"/>
          </a:ln>
        </p:spPr>
        <p:txBody>
          <a:bodyPr/>
          <a:lstStyle/>
          <a:p>
            <a:endParaRPr lang="es-GT"/>
          </a:p>
        </p:txBody>
      </p:sp>
      <p:sp>
        <p:nvSpPr>
          <p:cNvPr id="7" name="Text 5"/>
          <p:cNvSpPr txBox="1"/>
          <p:nvPr/>
        </p:nvSpPr>
        <p:spPr>
          <a:xfrm>
            <a:off x="2851901" y="4270248"/>
            <a:ext cx="2834640" cy="640080"/>
          </a:xfrm>
          <a:prstGeom prst="rect">
            <a:avLst/>
          </a:prstGeom>
          <a:noFill/>
          <a:ln/>
        </p:spPr>
        <p:txBody>
          <a:bodyPr wrap="square" lIns="0" tIns="0" rIns="0" bIns="0" rtlCol="0" anchor="t"/>
          <a:lstStyle/>
          <a:p>
            <a:pPr marL="0" indent="0">
              <a:buNone/>
            </a:pPr>
            <a:r>
              <a:rPr lang="en-US" sz="3200" b="1" dirty="0">
                <a:solidFill>
                  <a:schemeClr val="bg1"/>
                </a:solidFill>
                <a:latin typeface="Calibri" pitchFamily="34" charset="0"/>
                <a:ea typeface="Calibri" pitchFamily="34" charset="-122"/>
                <a:cs typeface="Calibri" pitchFamily="34" charset="-120"/>
              </a:rPr>
              <a:t>1 chat</a:t>
            </a:r>
            <a:endParaRPr lang="en-US" sz="3200" dirty="0"/>
          </a:p>
        </p:txBody>
      </p:sp>
      <p:sp>
        <p:nvSpPr>
          <p:cNvPr id="8" name="Text 6"/>
          <p:cNvSpPr txBox="1"/>
          <p:nvPr/>
        </p:nvSpPr>
        <p:spPr>
          <a:xfrm>
            <a:off x="2851901" y="4892040"/>
            <a:ext cx="2834640" cy="502920"/>
          </a:xfrm>
          <a:prstGeom prst="rect">
            <a:avLst/>
          </a:prstGeom>
          <a:noFill/>
          <a:ln/>
        </p:spPr>
        <p:txBody>
          <a:bodyPr wrap="square" lIns="0" tIns="0" rIns="0" bIns="0" rtlCol="0" anchor="t"/>
          <a:lstStyle/>
          <a:p>
            <a:pPr marL="0" indent="0">
              <a:buNone/>
            </a:pPr>
            <a:r>
              <a:rPr lang="en-US" sz="1400" dirty="0">
                <a:solidFill>
                  <a:srgbClr val="D5EBE6"/>
                </a:solidFill>
                <a:latin typeface="Calibri" pitchFamily="34" charset="0"/>
                <a:ea typeface="Calibri" pitchFamily="34" charset="-122"/>
                <a:cs typeface="Calibri" pitchFamily="34" charset="-120"/>
              </a:rPr>
              <a:t>to resolve a dispute that takes 15 days today</a:t>
            </a:r>
            <a:endParaRPr lang="en-US" sz="1400" dirty="0"/>
          </a:p>
        </p:txBody>
      </p:sp>
      <p:sp>
        <p:nvSpPr>
          <p:cNvPr id="9" name="stat1"/>
          <p:cNvSpPr/>
          <p:nvPr/>
        </p:nvSpPr>
        <p:spPr>
          <a:xfrm>
            <a:off x="6189461" y="4160520"/>
            <a:ext cx="3337560" cy="1280160"/>
          </a:xfrm>
          <a:prstGeom prst="roundRect">
            <a:avLst>
              <a:gd name="adj" fmla="val 8571"/>
            </a:avLst>
          </a:prstGeom>
          <a:solidFill>
            <a:schemeClr val="accent5">
              <a:alpha val="15000"/>
            </a:schemeClr>
          </a:solidFill>
          <a:ln w="9525">
            <a:solidFill>
              <a:schemeClr val="accent5"/>
            </a:solidFill>
            <a:prstDash val="solid"/>
          </a:ln>
        </p:spPr>
        <p:txBody>
          <a:bodyPr/>
          <a:lstStyle/>
          <a:p>
            <a:endParaRPr lang="es-GT"/>
          </a:p>
        </p:txBody>
      </p:sp>
      <p:sp>
        <p:nvSpPr>
          <p:cNvPr id="10" name="Text 8"/>
          <p:cNvSpPr txBox="1"/>
          <p:nvPr/>
        </p:nvSpPr>
        <p:spPr>
          <a:xfrm>
            <a:off x="6463781" y="4270248"/>
            <a:ext cx="2834640" cy="640080"/>
          </a:xfrm>
          <a:prstGeom prst="rect">
            <a:avLst/>
          </a:prstGeom>
          <a:noFill/>
          <a:ln/>
        </p:spPr>
        <p:txBody>
          <a:bodyPr wrap="square" lIns="0" tIns="0" rIns="0" bIns="0" rtlCol="0" anchor="t"/>
          <a:lstStyle/>
          <a:p>
            <a:pPr marL="0" indent="0">
              <a:buNone/>
            </a:pPr>
            <a:r>
              <a:rPr lang="en-US" sz="3200" b="1" dirty="0">
                <a:solidFill>
                  <a:schemeClr val="bg1"/>
                </a:solidFill>
                <a:latin typeface="Calibri" pitchFamily="34" charset="0"/>
                <a:ea typeface="Calibri" pitchFamily="34" charset="-122"/>
                <a:cs typeface="Calibri" pitchFamily="34" charset="-120"/>
              </a:rPr>
              <a:t>61%</a:t>
            </a:r>
            <a:endParaRPr lang="en-US" sz="3200" dirty="0"/>
          </a:p>
        </p:txBody>
      </p:sp>
      <p:sp>
        <p:nvSpPr>
          <p:cNvPr id="11" name="Text 9"/>
          <p:cNvSpPr txBox="1"/>
          <p:nvPr/>
        </p:nvSpPr>
        <p:spPr>
          <a:xfrm>
            <a:off x="6463781" y="4892040"/>
            <a:ext cx="2834640" cy="502920"/>
          </a:xfrm>
          <a:prstGeom prst="rect">
            <a:avLst/>
          </a:prstGeom>
          <a:noFill/>
          <a:ln/>
        </p:spPr>
        <p:txBody>
          <a:bodyPr wrap="square" lIns="0" tIns="0" rIns="0" bIns="0" rtlCol="0" anchor="t"/>
          <a:lstStyle/>
          <a:p>
            <a:pPr marL="0" indent="0">
              <a:buNone/>
            </a:pPr>
            <a:r>
              <a:rPr lang="en-US" sz="1400" dirty="0">
                <a:solidFill>
                  <a:srgbClr val="D5EBE6"/>
                </a:solidFill>
                <a:latin typeface="Calibri" pitchFamily="34" charset="0"/>
                <a:ea typeface="Calibri" pitchFamily="34" charset="-122"/>
                <a:cs typeface="Calibri" pitchFamily="34" charset="-120"/>
              </a:rPr>
              <a:t>of disputes solved with no human</a:t>
            </a:r>
            <a:endParaRPr lang="en-US" sz="1400" dirty="0"/>
          </a:p>
        </p:txBody>
      </p:sp>
      <p:sp>
        <p:nvSpPr>
          <p:cNvPr id="15" name="Text 13"/>
          <p:cNvSpPr txBox="1"/>
          <p:nvPr/>
        </p:nvSpPr>
        <p:spPr>
          <a:xfrm>
            <a:off x="731520" y="5943600"/>
            <a:ext cx="7315200" cy="548640"/>
          </a:xfrm>
          <a:prstGeom prst="rect">
            <a:avLst/>
          </a:prstGeom>
          <a:noFill/>
          <a:ln/>
        </p:spPr>
        <p:txBody>
          <a:bodyPr wrap="square" lIns="0" tIns="0" rIns="0" bIns="0" rtlCol="0" anchor="t"/>
          <a:lstStyle/>
          <a:p>
            <a:pPr marL="0" indent="0">
              <a:buNone/>
            </a:pPr>
            <a:r>
              <a:rPr lang="en-US" sz="1400" b="1" dirty="0">
                <a:solidFill>
                  <a:schemeClr val="bg1"/>
                </a:solidFill>
                <a:latin typeface="Calibri" pitchFamily="34" charset="0"/>
                <a:ea typeface="Calibri" pitchFamily="34" charset="-122"/>
                <a:cs typeface="Calibri" pitchFamily="34" charset="-120"/>
              </a:rPr>
              <a:t>Team DataMastersGT · Guatemala</a:t>
            </a:r>
            <a:endParaRPr lang="en-US" sz="1400" dirty="0"/>
          </a:p>
          <a:p>
            <a:pPr marL="0" indent="0">
              <a:buNone/>
            </a:pPr>
            <a:r>
              <a:rPr lang="en-US" sz="1400" dirty="0">
                <a:solidFill>
                  <a:srgbClr val="9CC8BF"/>
                </a:solidFill>
                <a:latin typeface="Calibri" pitchFamily="34" charset="0"/>
                <a:ea typeface="Calibri" pitchFamily="34" charset="-122"/>
                <a:cs typeface="Calibri" pitchFamily="34" charset="-120"/>
              </a:rPr>
              <a:t>Marcos Diaz · Daniel Machic</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latin typeface="Calibri" pitchFamily="34" charset="0"/>
                <a:ea typeface="Calibri" pitchFamily="34" charset="-122"/>
                <a:cs typeface="Calibri" pitchFamily="34" charset="-120"/>
              </a:rPr>
              <a:t>A customer waits 15 days. Triage does not help</a:t>
            </a:r>
            <a:endParaRPr lang="en-US" sz="3400" dirty="0"/>
          </a:p>
        </p:txBody>
      </p:sp>
      <p:sp>
        <p:nvSpPr>
          <p:cNvPr id="3" name="Text 1"/>
          <p:cNvSpPr txBox="1"/>
          <p:nvPr/>
        </p:nvSpPr>
        <p:spPr>
          <a:xfrm>
            <a:off x="548640" y="1188720"/>
            <a:ext cx="11064240" cy="457200"/>
          </a:xfrm>
          <a:prstGeom prst="rect">
            <a:avLst/>
          </a:prstGeom>
          <a:noFill/>
          <a:ln/>
        </p:spPr>
        <p:txBody>
          <a:bodyPr wrap="square" lIns="0" tIns="0" rIns="0" bIns="0" rtlCol="0" anchor="t"/>
          <a:lstStyle/>
          <a:p>
            <a:pPr marL="0" indent="0">
              <a:buNone/>
            </a:pPr>
            <a:r>
              <a:rPr lang="en-US" sz="1600" dirty="0">
                <a:solidFill>
                  <a:srgbClr val="647C79"/>
                </a:solidFill>
                <a:latin typeface="Calibri" pitchFamily="34" charset="0"/>
                <a:ea typeface="Calibri" pitchFamily="34" charset="-122"/>
                <a:cs typeface="Calibri" pitchFamily="34" charset="-120"/>
              </a:rPr>
              <a:t>"I don't recognize this charge." At Banco LATAM that starts a 15-day wait, and 1 in 5 cases still misses its deadline.</a:t>
            </a:r>
            <a:endParaRPr lang="en-US" sz="1600" dirty="0"/>
          </a:p>
        </p:txBody>
      </p:sp>
      <p:sp>
        <p:nvSpPr>
          <p:cNvPr id="4" name="cardA"/>
          <p:cNvSpPr/>
          <p:nvPr/>
        </p:nvSpPr>
        <p:spPr>
          <a:xfrm>
            <a:off x="548640" y="1783080"/>
            <a:ext cx="5440680" cy="3611880"/>
          </a:xfrm>
          <a:prstGeom prst="roundRect">
            <a:avLst>
              <a:gd name="adj" fmla="val 3038"/>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5" name="Text 3"/>
          <p:cNvSpPr txBox="1"/>
          <p:nvPr/>
        </p:nvSpPr>
        <p:spPr>
          <a:xfrm>
            <a:off x="777240" y="1920240"/>
            <a:ext cx="5029200" cy="5486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A 'Critical' case misses its deadline as often as a 'Low' one</a:t>
            </a:r>
            <a:endParaRPr lang="en-US" sz="1600" dirty="0"/>
          </a:p>
        </p:txBody>
      </p:sp>
      <p:graphicFrame>
        <p:nvGraphicFramePr>
          <p:cNvPr id="6" name="Chart 0"/>
          <p:cNvGraphicFramePr/>
          <p:nvPr/>
        </p:nvGraphicFramePr>
        <p:xfrm>
          <a:off x="731520" y="2514600"/>
          <a:ext cx="5029200" cy="2743200"/>
        </p:xfrm>
        <a:graphic>
          <a:graphicData uri="http://schemas.openxmlformats.org/drawingml/2006/chart">
            <c:chart xmlns:c="http://schemas.openxmlformats.org/drawingml/2006/chart" xmlns:r="http://schemas.openxmlformats.org/officeDocument/2006/relationships" r:id="rId3"/>
          </a:graphicData>
        </a:graphic>
      </p:graphicFrame>
      <p:sp>
        <p:nvSpPr>
          <p:cNvPr id="7" name="cardB"/>
          <p:cNvSpPr/>
          <p:nvPr/>
        </p:nvSpPr>
        <p:spPr>
          <a:xfrm>
            <a:off x="6172200" y="1783080"/>
            <a:ext cx="5440680" cy="3611880"/>
          </a:xfrm>
          <a:prstGeom prst="roundRect">
            <a:avLst>
              <a:gd name="adj" fmla="val 3038"/>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8" name="Text 5"/>
          <p:cNvSpPr txBox="1"/>
          <p:nvPr/>
        </p:nvSpPr>
        <p:spPr>
          <a:xfrm>
            <a:off x="6400800" y="1920240"/>
            <a:ext cx="5029200" cy="5486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Complaints are solved on first contact less than half as often as other requests</a:t>
            </a:r>
            <a:endParaRPr lang="en-US" sz="1600" dirty="0"/>
          </a:p>
        </p:txBody>
      </p:sp>
      <p:graphicFrame>
        <p:nvGraphicFramePr>
          <p:cNvPr id="9" name="Chart 1"/>
          <p:cNvGraphicFramePr/>
          <p:nvPr/>
        </p:nvGraphicFramePr>
        <p:xfrm>
          <a:off x="6355080" y="2514600"/>
          <a:ext cx="5074920" cy="2743200"/>
        </p:xfrm>
        <a:graphic>
          <a:graphicData uri="http://schemas.openxmlformats.org/drawingml/2006/chart">
            <c:chart xmlns:c="http://schemas.openxmlformats.org/drawingml/2006/chart" xmlns:r="http://schemas.openxmlformats.org/officeDocument/2006/relationships" r:id="rId4"/>
          </a:graphicData>
        </a:graphic>
      </p:graphicFrame>
      <p:sp>
        <p:nvSpPr>
          <p:cNvPr id="10" name="question"/>
          <p:cNvSpPr/>
          <p:nvPr/>
        </p:nvSpPr>
        <p:spPr>
          <a:xfrm>
            <a:off x="548640" y="5577840"/>
            <a:ext cx="11064240" cy="685800"/>
          </a:xfrm>
          <a:prstGeom prst="roundRect">
            <a:avLst>
              <a:gd name="adj" fmla="val 16000"/>
            </a:avLst>
          </a:prstGeom>
          <a:solidFill>
            <a:srgbClr val="0E2B2A"/>
          </a:solidFill>
          <a:ln w="9525">
            <a:solidFill>
              <a:srgbClr val="0E2B2A"/>
            </a:solidFill>
            <a:prstDash val="solid"/>
          </a:ln>
        </p:spPr>
        <p:txBody>
          <a:bodyPr/>
          <a:lstStyle/>
          <a:p>
            <a:endParaRPr lang="es-GT"/>
          </a:p>
        </p:txBody>
      </p:sp>
      <p:sp>
        <p:nvSpPr>
          <p:cNvPr id="11" name="Text 7"/>
          <p:cNvSpPr txBox="1"/>
          <p:nvPr/>
        </p:nvSpPr>
        <p:spPr>
          <a:xfrm>
            <a:off x="822960" y="5577840"/>
            <a:ext cx="10515600" cy="685800"/>
          </a:xfrm>
          <a:prstGeom prst="rect">
            <a:avLst/>
          </a:prstGeom>
          <a:noFill/>
          <a:ln/>
        </p:spPr>
        <p:txBody>
          <a:bodyPr wrap="square" lIns="0" tIns="0" rIns="0" bIns="0" rtlCol="0" anchor="ctr"/>
          <a:lstStyle/>
          <a:p>
            <a:pPr marL="0" indent="0">
              <a:buNone/>
            </a:pPr>
            <a:r>
              <a:rPr lang="en-US" sz="2000" b="1" dirty="0">
                <a:solidFill>
                  <a:schemeClr val="bg1"/>
                </a:solidFill>
                <a:latin typeface="Calibri" pitchFamily="34" charset="0"/>
                <a:ea typeface="Calibri" pitchFamily="34" charset="-122"/>
                <a:cs typeface="Calibri" pitchFamily="34" charset="-120"/>
              </a:rPr>
              <a:t>The question: How do we decide fast without giving up control?</a:t>
            </a:r>
            <a:endParaRPr lang="en-US" sz="20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latin typeface="Calibri" pitchFamily="34" charset="0"/>
                <a:ea typeface="Calibri" pitchFamily="34" charset="-122"/>
                <a:cs typeface="Calibri" pitchFamily="34" charset="-120"/>
              </a:rPr>
              <a:t>What it looks like: one conversation, three outcomes</a:t>
            </a:r>
            <a:endParaRPr lang="en-US" sz="3400" dirty="0"/>
          </a:p>
        </p:txBody>
      </p:sp>
      <p:pic>
        <p:nvPicPr>
          <p:cNvPr id="3" name="screenshot" descr="Live demo: chat with English subtitles and audit trace"/>
          <p:cNvPicPr>
            <a:picLocks noChangeAspect="1"/>
          </p:cNvPicPr>
          <p:nvPr/>
        </p:nvPicPr>
        <p:blipFill>
          <a:blip r:embed="rId3"/>
          <a:stretch>
            <a:fillRect/>
          </a:stretch>
        </p:blipFill>
        <p:spPr>
          <a:xfrm>
            <a:off x="548640" y="1325880"/>
            <a:ext cx="6309360" cy="4480560"/>
          </a:xfrm>
          <a:prstGeom prst="rect">
            <a:avLst/>
          </a:prstGeom>
        </p:spPr>
      </p:pic>
      <p:sp>
        <p:nvSpPr>
          <p:cNvPr id="5" name="case0"/>
          <p:cNvSpPr/>
          <p:nvPr/>
        </p:nvSpPr>
        <p:spPr>
          <a:xfrm>
            <a:off x="7132320" y="1325880"/>
            <a:ext cx="4480560" cy="1417320"/>
          </a:xfrm>
          <a:prstGeom prst="roundRect">
            <a:avLst>
              <a:gd name="adj" fmla="val 7742"/>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6" name="Text 3"/>
          <p:cNvSpPr txBox="1"/>
          <p:nvPr/>
        </p:nvSpPr>
        <p:spPr>
          <a:xfrm>
            <a:off x="7360920" y="1435608"/>
            <a:ext cx="237744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Normal resolution</a:t>
            </a:r>
            <a:endParaRPr lang="en-US" sz="1500" dirty="0"/>
          </a:p>
        </p:txBody>
      </p:sp>
      <p:sp>
        <p:nvSpPr>
          <p:cNvPr id="7" name="Text 4"/>
          <p:cNvSpPr txBox="1"/>
          <p:nvPr/>
        </p:nvSpPr>
        <p:spPr>
          <a:xfrm>
            <a:off x="7360920" y="1737360"/>
            <a:ext cx="2377440" cy="502920"/>
          </a:xfrm>
          <a:prstGeom prst="rect">
            <a:avLst/>
          </a:prstGeom>
          <a:noFill/>
          <a:ln/>
        </p:spPr>
        <p:txBody>
          <a:bodyPr wrap="square" lIns="0" tIns="0" rIns="0" bIns="0" rtlCol="0" anchor="t"/>
          <a:lstStyle/>
          <a:p>
            <a:pPr marL="0" indent="0">
              <a:buNone/>
            </a:pPr>
            <a:r>
              <a:rPr lang="en-US" sz="2600" b="1" dirty="0">
                <a:solidFill>
                  <a:srgbClr val="1F7A4A"/>
                </a:solidFill>
                <a:latin typeface="Calibri" pitchFamily="34" charset="0"/>
                <a:ea typeface="Calibri" pitchFamily="34" charset="-122"/>
                <a:cs typeface="Calibri" pitchFamily="34" charset="-120"/>
              </a:rPr>
              <a:t>US$243.63</a:t>
            </a:r>
            <a:endParaRPr lang="en-US" sz="2600" dirty="0"/>
          </a:p>
        </p:txBody>
      </p:sp>
      <p:sp>
        <p:nvSpPr>
          <p:cNvPr id="8" name="badge0"/>
          <p:cNvSpPr/>
          <p:nvPr/>
        </p:nvSpPr>
        <p:spPr>
          <a:xfrm>
            <a:off x="9601200" y="1481328"/>
            <a:ext cx="1828800" cy="310896"/>
          </a:xfrm>
          <a:prstGeom prst="roundRect">
            <a:avLst>
              <a:gd name="adj" fmla="val 50000"/>
            </a:avLst>
          </a:prstGeom>
          <a:solidFill>
            <a:srgbClr val="DCEFE3"/>
          </a:solidFill>
          <a:ln w="12700">
            <a:solidFill>
              <a:srgbClr val="1F7A4A"/>
            </a:solidFill>
            <a:prstDash val="solid"/>
          </a:ln>
        </p:spPr>
        <p:txBody>
          <a:bodyPr/>
          <a:lstStyle/>
          <a:p>
            <a:endParaRPr lang="es-GT"/>
          </a:p>
        </p:txBody>
      </p:sp>
      <p:sp>
        <p:nvSpPr>
          <p:cNvPr id="9" name="Text 6"/>
          <p:cNvSpPr txBox="1"/>
          <p:nvPr/>
        </p:nvSpPr>
        <p:spPr>
          <a:xfrm>
            <a:off x="9601200" y="1481328"/>
            <a:ext cx="1828800" cy="310896"/>
          </a:xfrm>
          <a:prstGeom prst="rect">
            <a:avLst/>
          </a:prstGeom>
          <a:noFill/>
          <a:ln/>
        </p:spPr>
        <p:txBody>
          <a:bodyPr wrap="square" lIns="0" tIns="0" rIns="0" bIns="0" rtlCol="0" anchor="ctr"/>
          <a:lstStyle/>
          <a:p>
            <a:pPr marL="0" indent="0" algn="ctr">
              <a:buNone/>
            </a:pPr>
            <a:r>
              <a:rPr lang="en-US" sz="1000" b="1" dirty="0">
                <a:solidFill>
                  <a:srgbClr val="1F7A4A"/>
                </a:solidFill>
                <a:latin typeface="Calibri" pitchFamily="34" charset="0"/>
                <a:ea typeface="Calibri" pitchFamily="34" charset="-122"/>
                <a:cs typeface="Calibri" pitchFamily="34" charset="-120"/>
              </a:rPr>
              <a:t>AUTO-APPROVED</a:t>
            </a:r>
            <a:endParaRPr lang="en-US" sz="1000" dirty="0"/>
          </a:p>
        </p:txBody>
      </p:sp>
      <p:sp>
        <p:nvSpPr>
          <p:cNvPr id="10" name="Text 7"/>
          <p:cNvSpPr txBox="1"/>
          <p:nvPr/>
        </p:nvSpPr>
        <p:spPr>
          <a:xfrm>
            <a:off x="7360920" y="2240280"/>
            <a:ext cx="4114800" cy="45720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Under the US$300 limit, no fraud signal. Refund approved instantly.</a:t>
            </a:r>
            <a:endParaRPr lang="en-US" sz="1200" dirty="0"/>
          </a:p>
        </p:txBody>
      </p:sp>
      <p:sp>
        <p:nvSpPr>
          <p:cNvPr id="11" name="case1"/>
          <p:cNvSpPr/>
          <p:nvPr/>
        </p:nvSpPr>
        <p:spPr>
          <a:xfrm>
            <a:off x="7132320" y="2880360"/>
            <a:ext cx="4480560" cy="1417320"/>
          </a:xfrm>
          <a:prstGeom prst="roundRect">
            <a:avLst>
              <a:gd name="adj" fmla="val 7742"/>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12" name="Text 9"/>
          <p:cNvSpPr txBox="1"/>
          <p:nvPr/>
        </p:nvSpPr>
        <p:spPr>
          <a:xfrm>
            <a:off x="7360920" y="2990088"/>
            <a:ext cx="237744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Ambiguous</a:t>
            </a:r>
            <a:endParaRPr lang="en-US" sz="1500" dirty="0"/>
          </a:p>
        </p:txBody>
      </p:sp>
      <p:sp>
        <p:nvSpPr>
          <p:cNvPr id="13" name="Text 10"/>
          <p:cNvSpPr txBox="1"/>
          <p:nvPr/>
        </p:nvSpPr>
        <p:spPr>
          <a:xfrm>
            <a:off x="7360920" y="3291840"/>
            <a:ext cx="2377440" cy="502920"/>
          </a:xfrm>
          <a:prstGeom prst="rect">
            <a:avLst/>
          </a:prstGeom>
          <a:noFill/>
          <a:ln/>
        </p:spPr>
        <p:txBody>
          <a:bodyPr wrap="square" lIns="0" tIns="0" rIns="0" bIns="0" rtlCol="0" anchor="t"/>
          <a:lstStyle/>
          <a:p>
            <a:pPr marL="0" indent="0">
              <a:buNone/>
            </a:pPr>
            <a:r>
              <a:rPr lang="en-US" sz="2600" b="1" dirty="0">
                <a:solidFill>
                  <a:srgbClr val="A86A12"/>
                </a:solidFill>
                <a:latin typeface="Calibri" pitchFamily="34" charset="0"/>
                <a:ea typeface="Calibri" pitchFamily="34" charset="-122"/>
                <a:cs typeface="Calibri" pitchFamily="34" charset="-120"/>
              </a:rPr>
              <a:t>US$344.04</a:t>
            </a:r>
            <a:endParaRPr lang="en-US" sz="2600" dirty="0"/>
          </a:p>
        </p:txBody>
      </p:sp>
      <p:sp>
        <p:nvSpPr>
          <p:cNvPr id="14" name="badge1"/>
          <p:cNvSpPr/>
          <p:nvPr/>
        </p:nvSpPr>
        <p:spPr>
          <a:xfrm>
            <a:off x="9601200" y="3035808"/>
            <a:ext cx="1828800" cy="310896"/>
          </a:xfrm>
          <a:prstGeom prst="roundRect">
            <a:avLst>
              <a:gd name="adj" fmla="val 50000"/>
            </a:avLst>
          </a:prstGeom>
          <a:solidFill>
            <a:srgbClr val="F6E8CF"/>
          </a:solidFill>
          <a:ln w="12700">
            <a:solidFill>
              <a:srgbClr val="A86A12"/>
            </a:solidFill>
            <a:prstDash val="solid"/>
          </a:ln>
        </p:spPr>
        <p:txBody>
          <a:bodyPr/>
          <a:lstStyle/>
          <a:p>
            <a:endParaRPr lang="es-GT"/>
          </a:p>
        </p:txBody>
      </p:sp>
      <p:sp>
        <p:nvSpPr>
          <p:cNvPr id="15" name="Text 12"/>
          <p:cNvSpPr txBox="1"/>
          <p:nvPr/>
        </p:nvSpPr>
        <p:spPr>
          <a:xfrm>
            <a:off x="9601200" y="3035808"/>
            <a:ext cx="1828800" cy="310896"/>
          </a:xfrm>
          <a:prstGeom prst="rect">
            <a:avLst/>
          </a:prstGeom>
          <a:noFill/>
          <a:ln/>
        </p:spPr>
        <p:txBody>
          <a:bodyPr wrap="square" lIns="0" tIns="0" rIns="0" bIns="0" rtlCol="0" anchor="ctr"/>
          <a:lstStyle/>
          <a:p>
            <a:pPr marL="0" indent="0" algn="ctr">
              <a:buNone/>
            </a:pPr>
            <a:r>
              <a:rPr lang="en-US" sz="1000" b="1" dirty="0">
                <a:solidFill>
                  <a:srgbClr val="A86A12"/>
                </a:solidFill>
                <a:latin typeface="Calibri" pitchFamily="34" charset="0"/>
                <a:ea typeface="Calibri" pitchFamily="34" charset="-122"/>
                <a:cs typeface="Calibri" pitchFamily="34" charset="-120"/>
              </a:rPr>
              <a:t>STANDARD REVIEW</a:t>
            </a:r>
            <a:endParaRPr lang="en-US" sz="1000" dirty="0"/>
          </a:p>
        </p:txBody>
      </p:sp>
      <p:sp>
        <p:nvSpPr>
          <p:cNvPr id="16" name="Text 13"/>
          <p:cNvSpPr txBox="1"/>
          <p:nvPr/>
        </p:nvSpPr>
        <p:spPr>
          <a:xfrm>
            <a:off x="7360920" y="3794760"/>
            <a:ext cx="4114800" cy="45720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Above the auto-approval limit, low risk, no fraud signal: standard review.</a:t>
            </a:r>
            <a:endParaRPr lang="en-US" sz="1200" dirty="0"/>
          </a:p>
        </p:txBody>
      </p:sp>
      <p:sp>
        <p:nvSpPr>
          <p:cNvPr id="17" name="case2"/>
          <p:cNvSpPr/>
          <p:nvPr/>
        </p:nvSpPr>
        <p:spPr>
          <a:xfrm>
            <a:off x="7132320" y="4434840"/>
            <a:ext cx="4480560" cy="1417320"/>
          </a:xfrm>
          <a:prstGeom prst="roundRect">
            <a:avLst>
              <a:gd name="adj" fmla="val 7742"/>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18" name="Text 15"/>
          <p:cNvSpPr txBox="1"/>
          <p:nvPr/>
        </p:nvSpPr>
        <p:spPr>
          <a:xfrm>
            <a:off x="7360920" y="4544568"/>
            <a:ext cx="237744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Human escalation</a:t>
            </a:r>
            <a:endParaRPr lang="en-US" sz="1500" dirty="0"/>
          </a:p>
        </p:txBody>
      </p:sp>
      <p:sp>
        <p:nvSpPr>
          <p:cNvPr id="19" name="Text 16"/>
          <p:cNvSpPr txBox="1"/>
          <p:nvPr/>
        </p:nvSpPr>
        <p:spPr>
          <a:xfrm>
            <a:off x="7360920" y="4846320"/>
            <a:ext cx="2377440" cy="502920"/>
          </a:xfrm>
          <a:prstGeom prst="rect">
            <a:avLst/>
          </a:prstGeom>
          <a:noFill/>
          <a:ln/>
        </p:spPr>
        <p:txBody>
          <a:bodyPr wrap="square" lIns="0" tIns="0" rIns="0" bIns="0" rtlCol="0" anchor="t"/>
          <a:lstStyle/>
          <a:p>
            <a:pPr marL="0" indent="0">
              <a:buNone/>
            </a:pPr>
            <a:r>
              <a:rPr lang="en-US" sz="2600" b="1" dirty="0">
                <a:solidFill>
                  <a:srgbClr val="B23A26"/>
                </a:solidFill>
                <a:latin typeface="Calibri" pitchFamily="34" charset="0"/>
                <a:ea typeface="Calibri" pitchFamily="34" charset="-122"/>
                <a:cs typeface="Calibri" pitchFamily="34" charset="-120"/>
              </a:rPr>
              <a:t>US$4,189.18</a:t>
            </a:r>
            <a:endParaRPr lang="en-US" sz="2600" dirty="0"/>
          </a:p>
        </p:txBody>
      </p:sp>
      <p:sp>
        <p:nvSpPr>
          <p:cNvPr id="20" name="badge2"/>
          <p:cNvSpPr/>
          <p:nvPr/>
        </p:nvSpPr>
        <p:spPr>
          <a:xfrm>
            <a:off x="9601200" y="4590288"/>
            <a:ext cx="1828800" cy="310896"/>
          </a:xfrm>
          <a:prstGeom prst="roundRect">
            <a:avLst>
              <a:gd name="adj" fmla="val 50000"/>
            </a:avLst>
          </a:prstGeom>
          <a:solidFill>
            <a:srgbClr val="F6DCD6"/>
          </a:solidFill>
          <a:ln w="12700">
            <a:solidFill>
              <a:srgbClr val="B23A26"/>
            </a:solidFill>
            <a:prstDash val="solid"/>
          </a:ln>
        </p:spPr>
        <p:txBody>
          <a:bodyPr/>
          <a:lstStyle/>
          <a:p>
            <a:endParaRPr lang="es-GT"/>
          </a:p>
        </p:txBody>
      </p:sp>
      <p:sp>
        <p:nvSpPr>
          <p:cNvPr id="21" name="Text 18"/>
          <p:cNvSpPr txBox="1"/>
          <p:nvPr/>
        </p:nvSpPr>
        <p:spPr>
          <a:xfrm>
            <a:off x="9601200" y="4590288"/>
            <a:ext cx="1828800" cy="310896"/>
          </a:xfrm>
          <a:prstGeom prst="rect">
            <a:avLst/>
          </a:prstGeom>
          <a:noFill/>
          <a:ln/>
        </p:spPr>
        <p:txBody>
          <a:bodyPr wrap="square" lIns="0" tIns="0" rIns="0" bIns="0" rtlCol="0" anchor="ctr"/>
          <a:lstStyle/>
          <a:p>
            <a:pPr marL="0" indent="0" algn="ctr">
              <a:buNone/>
            </a:pPr>
            <a:r>
              <a:rPr lang="en-US" sz="1000" b="1" dirty="0">
                <a:solidFill>
                  <a:srgbClr val="B23A26"/>
                </a:solidFill>
                <a:latin typeface="Calibri" pitchFamily="34" charset="0"/>
                <a:ea typeface="Calibri" pitchFamily="34" charset="-122"/>
                <a:cs typeface="Calibri" pitchFamily="34" charset="-120"/>
              </a:rPr>
              <a:t>ESCALATED TO HUMAN</a:t>
            </a:r>
            <a:endParaRPr lang="en-US" sz="1000" dirty="0"/>
          </a:p>
        </p:txBody>
      </p:sp>
      <p:sp>
        <p:nvSpPr>
          <p:cNvPr id="22" name="Text 19"/>
          <p:cNvSpPr txBox="1"/>
          <p:nvPr/>
        </p:nvSpPr>
        <p:spPr>
          <a:xfrm>
            <a:off x="7360920" y="5349240"/>
            <a:ext cx="4114800" cy="45720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Above US$1,500: mandatory handoff to a specialist, with full context.</a:t>
            </a:r>
            <a:endParaRPr lang="en-US" sz="1200" dirty="0"/>
          </a:p>
        </p:txBody>
      </p:sp>
      <p:sp>
        <p:nvSpPr>
          <p:cNvPr id="23" name="fraudnote"/>
          <p:cNvSpPr/>
          <p:nvPr/>
        </p:nvSpPr>
        <p:spPr>
          <a:xfrm>
            <a:off x="548640" y="6035040"/>
            <a:ext cx="11064240" cy="457200"/>
          </a:xfrm>
          <a:prstGeom prst="roundRect">
            <a:avLst>
              <a:gd name="adj" fmla="val 24000"/>
            </a:avLst>
          </a:prstGeom>
          <a:solidFill>
            <a:srgbClr val="D5EBE6"/>
          </a:solidFill>
          <a:ln w="9525">
            <a:solidFill>
              <a:srgbClr val="9CC8BF"/>
            </a:solidFill>
            <a:prstDash val="solid"/>
          </a:ln>
        </p:spPr>
        <p:txBody>
          <a:bodyPr/>
          <a:lstStyle/>
          <a:p>
            <a:endParaRPr lang="es-GT"/>
          </a:p>
        </p:txBody>
      </p:sp>
      <p:sp>
        <p:nvSpPr>
          <p:cNvPr id="24" name="Text 21"/>
          <p:cNvSpPr txBox="1"/>
          <p:nvPr/>
        </p:nvSpPr>
        <p:spPr>
          <a:xfrm>
            <a:off x="777240" y="6035040"/>
            <a:ext cx="10698480" cy="457200"/>
          </a:xfrm>
          <a:prstGeom prst="rect">
            <a:avLst/>
          </a:prstGeom>
          <a:noFill/>
          <a:ln/>
        </p:spPr>
        <p:txBody>
          <a:bodyPr wrap="square" lIns="0" tIns="0" rIns="0" bIns="0" rtlCol="0" anchor="ctr"/>
          <a:lstStyle/>
          <a:p>
            <a:pPr marL="0" indent="0">
              <a:buNone/>
            </a:pPr>
            <a:r>
              <a:rPr lang="en-US" sz="1300" b="1" dirty="0">
                <a:solidFill>
                  <a:schemeClr val="tx1"/>
                </a:solidFill>
                <a:latin typeface="Calibri" pitchFamily="34" charset="0"/>
                <a:ea typeface="Calibri" pitchFamily="34" charset="-122"/>
                <a:cs typeface="Calibri" pitchFamily="34" charset="-120"/>
              </a:rPr>
              <a:t>Also in the demo: </a:t>
            </a:r>
            <a:r>
              <a:rPr lang="en-US" sz="1300" dirty="0">
                <a:solidFill>
                  <a:schemeClr val="tx1"/>
                </a:solidFill>
                <a:latin typeface="Calibri" pitchFamily="34" charset="0"/>
                <a:ea typeface="Calibri" pitchFamily="34" charset="-122"/>
                <a:cs typeface="Calibri" pitchFamily="34" charset="-120"/>
              </a:rPr>
              <a:t>a US$210 charge with fraud score 79 goes to the fraud team, even though the amount is small.</a:t>
            </a:r>
            <a:endParaRPr lang="en-US" sz="13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latin typeface="Calibri" pitchFamily="34" charset="0"/>
                <a:ea typeface="Calibri" pitchFamily="34" charset="-122"/>
                <a:cs typeface="Calibri" pitchFamily="34" charset="-120"/>
              </a:rPr>
              <a:t>Why a bank can trust it: the model talks, the code decides</a:t>
            </a:r>
            <a:endParaRPr lang="en-US" sz="3400" dirty="0"/>
          </a:p>
        </p:txBody>
      </p:sp>
      <p:sp>
        <p:nvSpPr>
          <p:cNvPr id="3" name="step0"/>
          <p:cNvSpPr/>
          <p:nvPr/>
        </p:nvSpPr>
        <p:spPr>
          <a:xfrm>
            <a:off x="548640" y="1371600"/>
            <a:ext cx="2560320" cy="1920240"/>
          </a:xfrm>
          <a:prstGeom prst="roundRect">
            <a:avLst>
              <a:gd name="adj" fmla="val 5714"/>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4" name="num0"/>
          <p:cNvSpPr/>
          <p:nvPr/>
        </p:nvSpPr>
        <p:spPr>
          <a:xfrm>
            <a:off x="777240" y="1572768"/>
            <a:ext cx="457200" cy="457200"/>
          </a:xfrm>
          <a:prstGeom prst="ellipse">
            <a:avLst/>
          </a:prstGeom>
          <a:solidFill>
            <a:srgbClr val="D5EBE6"/>
          </a:solidFill>
          <a:ln/>
        </p:spPr>
        <p:txBody>
          <a:bodyPr/>
          <a:lstStyle/>
          <a:p>
            <a:endParaRPr lang="es-GT"/>
          </a:p>
        </p:txBody>
      </p:sp>
      <p:sp>
        <p:nvSpPr>
          <p:cNvPr id="5" name="Text 3"/>
          <p:cNvSpPr txBox="1"/>
          <p:nvPr/>
        </p:nvSpPr>
        <p:spPr>
          <a:xfrm>
            <a:off x="777240" y="1572768"/>
            <a:ext cx="457200" cy="457200"/>
          </a:xfrm>
          <a:prstGeom prst="rect">
            <a:avLst/>
          </a:prstGeom>
          <a:noFill/>
          <a:ln/>
        </p:spPr>
        <p:txBody>
          <a:bodyPr wrap="square" lIns="0" tIns="0" rIns="0" bIns="0" rtlCol="0" anchor="ctr"/>
          <a:lstStyle/>
          <a:p>
            <a:pPr marL="0" indent="0" algn="ctr">
              <a:buNone/>
            </a:pPr>
            <a:r>
              <a:rPr lang="en-US" sz="1600" b="1" dirty="0">
                <a:solidFill>
                  <a:srgbClr val="0A5E55"/>
                </a:solidFill>
                <a:latin typeface="Calibri" pitchFamily="34" charset="0"/>
                <a:ea typeface="Calibri" pitchFamily="34" charset="-122"/>
                <a:cs typeface="Calibri" pitchFamily="34" charset="-120"/>
              </a:rPr>
              <a:t>1</a:t>
            </a:r>
            <a:endParaRPr lang="en-US" sz="1600" dirty="0"/>
          </a:p>
        </p:txBody>
      </p:sp>
      <p:sp>
        <p:nvSpPr>
          <p:cNvPr id="6" name="Text 4"/>
          <p:cNvSpPr txBox="1"/>
          <p:nvPr/>
        </p:nvSpPr>
        <p:spPr>
          <a:xfrm>
            <a:off x="1371600" y="1572768"/>
            <a:ext cx="1645920" cy="45720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Customer</a:t>
            </a:r>
            <a:endParaRPr lang="en-US" sz="1800" dirty="0"/>
          </a:p>
        </p:txBody>
      </p:sp>
      <p:sp>
        <p:nvSpPr>
          <p:cNvPr id="7" name="Text 5"/>
          <p:cNvSpPr txBox="1"/>
          <p:nvPr/>
        </p:nvSpPr>
        <p:spPr>
          <a:xfrm>
            <a:off x="777240" y="2194560"/>
            <a:ext cx="2148840" cy="10058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Chats in Spanish or Portuguese. Identified by document + full name.</a:t>
            </a:r>
            <a:endParaRPr lang="en-US" sz="1400" dirty="0"/>
          </a:p>
        </p:txBody>
      </p:sp>
      <p:sp>
        <p:nvSpPr>
          <p:cNvPr id="8" name="Text 6"/>
          <p:cNvSpPr txBox="1"/>
          <p:nvPr/>
        </p:nvSpPr>
        <p:spPr>
          <a:xfrm>
            <a:off x="3108960" y="2103120"/>
            <a:ext cx="274320" cy="457200"/>
          </a:xfrm>
          <a:prstGeom prst="rect">
            <a:avLst/>
          </a:prstGeom>
          <a:noFill/>
          <a:ln/>
        </p:spPr>
        <p:txBody>
          <a:bodyPr wrap="square" lIns="0" tIns="0" rIns="0" bIns="0" rtlCol="0" anchor="ctr"/>
          <a:lstStyle/>
          <a:p>
            <a:pPr marL="0" indent="0" algn="ctr">
              <a:buNone/>
            </a:pPr>
            <a:r>
              <a:rPr lang="en-US" sz="2400" b="1" dirty="0">
                <a:solidFill>
                  <a:srgbClr val="647C79"/>
                </a:solidFill>
              </a:rPr>
              <a:t>›</a:t>
            </a:r>
            <a:endParaRPr lang="en-US" sz="2400" dirty="0"/>
          </a:p>
        </p:txBody>
      </p:sp>
      <p:sp>
        <p:nvSpPr>
          <p:cNvPr id="9" name="step1"/>
          <p:cNvSpPr/>
          <p:nvPr/>
        </p:nvSpPr>
        <p:spPr>
          <a:xfrm>
            <a:off x="3383280" y="1371600"/>
            <a:ext cx="2560320" cy="1920240"/>
          </a:xfrm>
          <a:prstGeom prst="roundRect">
            <a:avLst>
              <a:gd name="adj" fmla="val 5714"/>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10" name="num1"/>
          <p:cNvSpPr/>
          <p:nvPr/>
        </p:nvSpPr>
        <p:spPr>
          <a:xfrm>
            <a:off x="3611880" y="1572768"/>
            <a:ext cx="457200" cy="457200"/>
          </a:xfrm>
          <a:prstGeom prst="ellipse">
            <a:avLst/>
          </a:prstGeom>
          <a:solidFill>
            <a:srgbClr val="D5EBE6"/>
          </a:solidFill>
          <a:ln/>
        </p:spPr>
        <p:txBody>
          <a:bodyPr/>
          <a:lstStyle/>
          <a:p>
            <a:endParaRPr lang="es-GT"/>
          </a:p>
        </p:txBody>
      </p:sp>
      <p:sp>
        <p:nvSpPr>
          <p:cNvPr id="11" name="Text 9"/>
          <p:cNvSpPr txBox="1"/>
          <p:nvPr/>
        </p:nvSpPr>
        <p:spPr>
          <a:xfrm>
            <a:off x="3611880" y="1572768"/>
            <a:ext cx="457200" cy="457200"/>
          </a:xfrm>
          <a:prstGeom prst="rect">
            <a:avLst/>
          </a:prstGeom>
          <a:noFill/>
          <a:ln/>
        </p:spPr>
        <p:txBody>
          <a:bodyPr wrap="square" lIns="0" tIns="0" rIns="0" bIns="0" rtlCol="0" anchor="ctr"/>
          <a:lstStyle/>
          <a:p>
            <a:pPr marL="0" indent="0" algn="ctr">
              <a:buNone/>
            </a:pPr>
            <a:r>
              <a:rPr lang="en-US" sz="1600" b="1" dirty="0">
                <a:solidFill>
                  <a:srgbClr val="0A5E55"/>
                </a:solidFill>
                <a:latin typeface="Calibri" pitchFamily="34" charset="0"/>
                <a:ea typeface="Calibri" pitchFamily="34" charset="-122"/>
                <a:cs typeface="Calibri" pitchFamily="34" charset="-120"/>
              </a:rPr>
              <a:t>2</a:t>
            </a:r>
            <a:endParaRPr lang="en-US" sz="1600" dirty="0"/>
          </a:p>
        </p:txBody>
      </p:sp>
      <p:sp>
        <p:nvSpPr>
          <p:cNvPr id="12" name="Text 10"/>
          <p:cNvSpPr txBox="1"/>
          <p:nvPr/>
        </p:nvSpPr>
        <p:spPr>
          <a:xfrm>
            <a:off x="4206240" y="1572768"/>
            <a:ext cx="1645920" cy="45720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AI model</a:t>
            </a:r>
            <a:endParaRPr lang="en-US" sz="1800" dirty="0"/>
          </a:p>
        </p:txBody>
      </p:sp>
      <p:sp>
        <p:nvSpPr>
          <p:cNvPr id="13" name="Text 11"/>
          <p:cNvSpPr txBox="1"/>
          <p:nvPr/>
        </p:nvSpPr>
        <p:spPr>
          <a:xfrm>
            <a:off x="3611880" y="2194560"/>
            <a:ext cx="2148840" cy="10058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Only chooses which tool to call and with what arguments.</a:t>
            </a:r>
            <a:endParaRPr lang="en-US" sz="1400" dirty="0"/>
          </a:p>
        </p:txBody>
      </p:sp>
      <p:sp>
        <p:nvSpPr>
          <p:cNvPr id="14" name="Text 12"/>
          <p:cNvSpPr txBox="1"/>
          <p:nvPr/>
        </p:nvSpPr>
        <p:spPr>
          <a:xfrm>
            <a:off x="5943600" y="2103120"/>
            <a:ext cx="274320" cy="457200"/>
          </a:xfrm>
          <a:prstGeom prst="rect">
            <a:avLst/>
          </a:prstGeom>
          <a:noFill/>
          <a:ln/>
        </p:spPr>
        <p:txBody>
          <a:bodyPr wrap="square" lIns="0" tIns="0" rIns="0" bIns="0" rtlCol="0" anchor="ctr"/>
          <a:lstStyle/>
          <a:p>
            <a:pPr marL="0" indent="0" algn="ctr">
              <a:buNone/>
            </a:pPr>
            <a:r>
              <a:rPr lang="en-US" sz="2400" b="1" dirty="0">
                <a:solidFill>
                  <a:srgbClr val="647C79"/>
                </a:solidFill>
              </a:rPr>
              <a:t>›</a:t>
            </a:r>
            <a:endParaRPr lang="en-US" sz="2400" dirty="0"/>
          </a:p>
        </p:txBody>
      </p:sp>
      <p:sp>
        <p:nvSpPr>
          <p:cNvPr id="15" name="step2"/>
          <p:cNvSpPr/>
          <p:nvPr/>
        </p:nvSpPr>
        <p:spPr>
          <a:xfrm>
            <a:off x="6217920" y="1371600"/>
            <a:ext cx="2560320" cy="1920240"/>
          </a:xfrm>
          <a:prstGeom prst="roundRect">
            <a:avLst>
              <a:gd name="adj" fmla="val 5714"/>
            </a:avLst>
          </a:prstGeom>
          <a:solidFill>
            <a:srgbClr val="0E7C70"/>
          </a:solidFill>
          <a:ln w="9525">
            <a:solidFill>
              <a:srgbClr val="0E7C70"/>
            </a:solidFill>
            <a:prstDash val="solid"/>
          </a:ln>
          <a:effectLst>
            <a:outerShdw blurRad="127000" dist="38100" dir="5400000" algn="bl" rotWithShape="0">
              <a:srgbClr val="0E2B2A">
                <a:alpha val="12000"/>
              </a:srgbClr>
            </a:outerShdw>
          </a:effectLst>
        </p:spPr>
        <p:txBody>
          <a:bodyPr/>
          <a:lstStyle/>
          <a:p>
            <a:endParaRPr lang="es-GT"/>
          </a:p>
        </p:txBody>
      </p:sp>
      <p:sp>
        <p:nvSpPr>
          <p:cNvPr id="16" name="num2"/>
          <p:cNvSpPr/>
          <p:nvPr/>
        </p:nvSpPr>
        <p:spPr>
          <a:xfrm>
            <a:off x="6446520" y="1572768"/>
            <a:ext cx="457200" cy="457200"/>
          </a:xfrm>
          <a:prstGeom prst="ellipse">
            <a:avLst/>
          </a:prstGeom>
          <a:solidFill>
            <a:schemeClr val="bg1"/>
          </a:solidFill>
          <a:ln/>
        </p:spPr>
        <p:txBody>
          <a:bodyPr/>
          <a:lstStyle/>
          <a:p>
            <a:endParaRPr lang="es-GT"/>
          </a:p>
        </p:txBody>
      </p:sp>
      <p:sp>
        <p:nvSpPr>
          <p:cNvPr id="17" name="Text 15"/>
          <p:cNvSpPr txBox="1"/>
          <p:nvPr/>
        </p:nvSpPr>
        <p:spPr>
          <a:xfrm>
            <a:off x="6446520" y="1572768"/>
            <a:ext cx="457200" cy="457200"/>
          </a:xfrm>
          <a:prstGeom prst="rect">
            <a:avLst/>
          </a:prstGeom>
          <a:noFill/>
          <a:ln/>
        </p:spPr>
        <p:txBody>
          <a:bodyPr wrap="square" lIns="0" tIns="0" rIns="0" bIns="0" rtlCol="0" anchor="ctr"/>
          <a:lstStyle/>
          <a:p>
            <a:pPr marL="0" indent="0" algn="ctr">
              <a:buNone/>
            </a:pPr>
            <a:r>
              <a:rPr lang="en-US" sz="1600" b="1" dirty="0">
                <a:solidFill>
                  <a:srgbClr val="0A5E55"/>
                </a:solidFill>
                <a:latin typeface="Calibri" pitchFamily="34" charset="0"/>
                <a:ea typeface="Calibri" pitchFamily="34" charset="-122"/>
                <a:cs typeface="Calibri" pitchFamily="34" charset="-120"/>
              </a:rPr>
              <a:t>3</a:t>
            </a:r>
            <a:endParaRPr lang="en-US" sz="1600" dirty="0"/>
          </a:p>
        </p:txBody>
      </p:sp>
      <p:sp>
        <p:nvSpPr>
          <p:cNvPr id="18" name="Text 16"/>
          <p:cNvSpPr txBox="1"/>
          <p:nvPr/>
        </p:nvSpPr>
        <p:spPr>
          <a:xfrm>
            <a:off x="7040880" y="1572768"/>
            <a:ext cx="1645920" cy="457200"/>
          </a:xfrm>
          <a:prstGeom prst="rect">
            <a:avLst/>
          </a:prstGeom>
          <a:noFill/>
          <a:ln/>
        </p:spPr>
        <p:txBody>
          <a:bodyPr wrap="square" lIns="0" tIns="0" rIns="0" bIns="0" rtlCol="0" anchor="ctr"/>
          <a:lstStyle/>
          <a:p>
            <a:pPr marL="0" indent="0">
              <a:buNone/>
            </a:pPr>
            <a:r>
              <a:rPr lang="en-US" sz="1800" b="1" dirty="0">
                <a:solidFill>
                  <a:schemeClr val="bg1"/>
                </a:solidFill>
                <a:latin typeface="Calibri" pitchFamily="34" charset="0"/>
                <a:ea typeface="Calibri" pitchFamily="34" charset="-122"/>
                <a:cs typeface="Calibri" pitchFamily="34" charset="-120"/>
              </a:rPr>
              <a:t>Permission gate</a:t>
            </a:r>
            <a:endParaRPr lang="en-US" sz="1800" dirty="0"/>
          </a:p>
        </p:txBody>
      </p:sp>
      <p:sp>
        <p:nvSpPr>
          <p:cNvPr id="19" name="Text 17"/>
          <p:cNvSpPr txBox="1"/>
          <p:nvPr/>
        </p:nvSpPr>
        <p:spPr>
          <a:xfrm>
            <a:off x="6446520" y="2194560"/>
            <a:ext cx="2148840" cy="100584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Python code. Reads amount, risk and channel from bank data, never from the model.</a:t>
            </a:r>
            <a:endParaRPr lang="en-US" sz="1400" dirty="0"/>
          </a:p>
        </p:txBody>
      </p:sp>
      <p:sp>
        <p:nvSpPr>
          <p:cNvPr id="20" name="Text 18"/>
          <p:cNvSpPr txBox="1"/>
          <p:nvPr/>
        </p:nvSpPr>
        <p:spPr>
          <a:xfrm>
            <a:off x="8778240" y="2103120"/>
            <a:ext cx="274320" cy="457200"/>
          </a:xfrm>
          <a:prstGeom prst="rect">
            <a:avLst/>
          </a:prstGeom>
          <a:noFill/>
          <a:ln/>
        </p:spPr>
        <p:txBody>
          <a:bodyPr wrap="square" lIns="0" tIns="0" rIns="0" bIns="0" rtlCol="0" anchor="ctr"/>
          <a:lstStyle/>
          <a:p>
            <a:pPr marL="0" indent="0" algn="ctr">
              <a:buNone/>
            </a:pPr>
            <a:r>
              <a:rPr lang="en-US" sz="2400" b="1" dirty="0">
                <a:solidFill>
                  <a:srgbClr val="647C79"/>
                </a:solidFill>
              </a:rPr>
              <a:t>›</a:t>
            </a:r>
            <a:endParaRPr lang="en-US" sz="2400" dirty="0"/>
          </a:p>
        </p:txBody>
      </p:sp>
      <p:sp>
        <p:nvSpPr>
          <p:cNvPr id="21" name="step3"/>
          <p:cNvSpPr/>
          <p:nvPr/>
        </p:nvSpPr>
        <p:spPr>
          <a:xfrm>
            <a:off x="9052560" y="1371600"/>
            <a:ext cx="2560320" cy="1920240"/>
          </a:xfrm>
          <a:prstGeom prst="roundRect">
            <a:avLst>
              <a:gd name="adj" fmla="val 5714"/>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22" name="num3"/>
          <p:cNvSpPr/>
          <p:nvPr/>
        </p:nvSpPr>
        <p:spPr>
          <a:xfrm>
            <a:off x="9281160" y="1572768"/>
            <a:ext cx="457200" cy="457200"/>
          </a:xfrm>
          <a:prstGeom prst="ellipse">
            <a:avLst/>
          </a:prstGeom>
          <a:solidFill>
            <a:srgbClr val="D5EBE6"/>
          </a:solidFill>
          <a:ln/>
        </p:spPr>
        <p:txBody>
          <a:bodyPr/>
          <a:lstStyle/>
          <a:p>
            <a:endParaRPr lang="es-GT"/>
          </a:p>
        </p:txBody>
      </p:sp>
      <p:sp>
        <p:nvSpPr>
          <p:cNvPr id="23" name="Text 21"/>
          <p:cNvSpPr txBox="1"/>
          <p:nvPr/>
        </p:nvSpPr>
        <p:spPr>
          <a:xfrm>
            <a:off x="9281160" y="1572768"/>
            <a:ext cx="457200" cy="457200"/>
          </a:xfrm>
          <a:prstGeom prst="rect">
            <a:avLst/>
          </a:prstGeom>
          <a:noFill/>
          <a:ln/>
        </p:spPr>
        <p:txBody>
          <a:bodyPr wrap="square" lIns="0" tIns="0" rIns="0" bIns="0" rtlCol="0" anchor="ctr"/>
          <a:lstStyle/>
          <a:p>
            <a:pPr marL="0" indent="0" algn="ctr">
              <a:buNone/>
            </a:pPr>
            <a:r>
              <a:rPr lang="en-US" sz="1600" b="1" dirty="0">
                <a:solidFill>
                  <a:srgbClr val="0A5E55"/>
                </a:solidFill>
                <a:latin typeface="Calibri" pitchFamily="34" charset="0"/>
                <a:ea typeface="Calibri" pitchFamily="34" charset="-122"/>
                <a:cs typeface="Calibri" pitchFamily="34" charset="-120"/>
              </a:rPr>
              <a:t>4</a:t>
            </a:r>
            <a:endParaRPr lang="en-US" sz="1600" dirty="0"/>
          </a:p>
        </p:txBody>
      </p:sp>
      <p:sp>
        <p:nvSpPr>
          <p:cNvPr id="24" name="Text 22"/>
          <p:cNvSpPr txBox="1"/>
          <p:nvPr/>
        </p:nvSpPr>
        <p:spPr>
          <a:xfrm>
            <a:off x="9875520" y="1572768"/>
            <a:ext cx="1645920" cy="45720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Outcome</a:t>
            </a:r>
            <a:endParaRPr lang="en-US" sz="1800" dirty="0"/>
          </a:p>
        </p:txBody>
      </p:sp>
      <p:sp>
        <p:nvSpPr>
          <p:cNvPr id="25" name="Text 23"/>
          <p:cNvSpPr txBox="1"/>
          <p:nvPr/>
        </p:nvSpPr>
        <p:spPr>
          <a:xfrm>
            <a:off x="9281160" y="2194560"/>
            <a:ext cx="2148840" cy="100584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Auto-approve, standard review, or human handoff, with a full audit trace.</a:t>
            </a:r>
            <a:endParaRPr lang="en-US" sz="1400" dirty="0"/>
          </a:p>
        </p:txBody>
      </p:sp>
      <p:sp>
        <p:nvSpPr>
          <p:cNvPr id="26" name="Text 24"/>
          <p:cNvSpPr txBox="1"/>
          <p:nvPr/>
        </p:nvSpPr>
        <p:spPr>
          <a:xfrm>
            <a:off x="548640" y="3520440"/>
            <a:ext cx="5486400" cy="36576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Limits written in code</a:t>
            </a:r>
            <a:endParaRPr lang="en-US" sz="1800" dirty="0"/>
          </a:p>
        </p:txBody>
      </p:sp>
      <p:sp>
        <p:nvSpPr>
          <p:cNvPr id="27" name="Text 25"/>
          <p:cNvSpPr txBox="1"/>
          <p:nvPr/>
        </p:nvSpPr>
        <p:spPr>
          <a:xfrm>
            <a:off x="4754880" y="3566160"/>
            <a:ext cx="6812280" cy="320040"/>
          </a:xfrm>
          <a:prstGeom prst="rect">
            <a:avLst/>
          </a:prstGeom>
          <a:noFill/>
          <a:ln/>
        </p:spPr>
        <p:txBody>
          <a:bodyPr wrap="square" lIns="0" tIns="0" rIns="0" bIns="0" rtlCol="0" anchor="t"/>
          <a:lstStyle/>
          <a:p>
            <a:pPr marL="0" indent="0" algn="r">
              <a:buNone/>
            </a:pPr>
            <a:r>
              <a:rPr lang="en-US" sz="1200" dirty="0">
                <a:solidFill>
                  <a:srgbClr val="647C79"/>
                </a:solidFill>
                <a:latin typeface="Calibri" pitchFamily="34" charset="0"/>
                <a:ea typeface="Calibri" pitchFamily="34" charset="-122"/>
                <a:cs typeface="Calibri" pitchFamily="34" charset="-120"/>
              </a:rPr>
              <a:t>Risk score = amount vs. typical, prior complaints, category, channel, customer value</a:t>
            </a:r>
            <a:endParaRPr lang="en-US" sz="1200" dirty="0"/>
          </a:p>
        </p:txBody>
      </p:sp>
      <p:sp>
        <p:nvSpPr>
          <p:cNvPr id="28" name="rule00"/>
          <p:cNvSpPr/>
          <p:nvPr/>
        </p:nvSpPr>
        <p:spPr>
          <a:xfrm>
            <a:off x="548640" y="4023360"/>
            <a:ext cx="3611880" cy="960120"/>
          </a:xfrm>
          <a:prstGeom prst="roundRect">
            <a:avLst>
              <a:gd name="adj" fmla="val 11429"/>
            </a:avLst>
          </a:prstGeom>
          <a:solidFill>
            <a:srgbClr val="DCEFE3"/>
          </a:solidFill>
          <a:ln w="9525">
            <a:solidFill>
              <a:srgbClr val="DCEFE3"/>
            </a:solidFill>
            <a:prstDash val="solid"/>
          </a:ln>
        </p:spPr>
        <p:txBody>
          <a:bodyPr/>
          <a:lstStyle/>
          <a:p>
            <a:endParaRPr lang="es-GT"/>
          </a:p>
        </p:txBody>
      </p:sp>
      <p:sp>
        <p:nvSpPr>
          <p:cNvPr id="29" name="Text 27"/>
          <p:cNvSpPr txBox="1"/>
          <p:nvPr/>
        </p:nvSpPr>
        <p:spPr>
          <a:xfrm>
            <a:off x="777240" y="4114800"/>
            <a:ext cx="32004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 US$300, no fraud signal</a:t>
            </a:r>
            <a:endParaRPr lang="en-US" sz="1400" dirty="0"/>
          </a:p>
        </p:txBody>
      </p:sp>
      <p:sp>
        <p:nvSpPr>
          <p:cNvPr id="30" name="Text 28"/>
          <p:cNvSpPr txBox="1"/>
          <p:nvPr/>
        </p:nvSpPr>
        <p:spPr>
          <a:xfrm>
            <a:off x="777240" y="4626864"/>
            <a:ext cx="3200400" cy="292608"/>
          </a:xfrm>
          <a:prstGeom prst="rect">
            <a:avLst/>
          </a:prstGeom>
          <a:noFill/>
          <a:ln/>
        </p:spPr>
        <p:txBody>
          <a:bodyPr wrap="square" lIns="0" tIns="0" rIns="0" bIns="0" rtlCol="0" anchor="t"/>
          <a:lstStyle/>
          <a:p>
            <a:pPr marL="0" indent="0">
              <a:buNone/>
            </a:pPr>
            <a:r>
              <a:rPr lang="en-US" sz="1500" b="1" dirty="0">
                <a:solidFill>
                  <a:srgbClr val="1F7A4A"/>
                </a:solidFill>
                <a:latin typeface="Calibri" pitchFamily="34" charset="0"/>
                <a:ea typeface="Calibri" pitchFamily="34" charset="-122"/>
                <a:cs typeface="Calibri" pitchFamily="34" charset="-120"/>
              </a:rPr>
              <a:t>→ Auto-approved</a:t>
            </a:r>
            <a:endParaRPr lang="en-US" sz="1500" dirty="0"/>
          </a:p>
        </p:txBody>
      </p:sp>
      <p:sp>
        <p:nvSpPr>
          <p:cNvPr id="31" name="rule01"/>
          <p:cNvSpPr/>
          <p:nvPr/>
        </p:nvSpPr>
        <p:spPr>
          <a:xfrm>
            <a:off x="548640" y="5120640"/>
            <a:ext cx="3611880" cy="960120"/>
          </a:xfrm>
          <a:prstGeom prst="roundRect">
            <a:avLst>
              <a:gd name="adj" fmla="val 11429"/>
            </a:avLst>
          </a:prstGeom>
          <a:solidFill>
            <a:srgbClr val="DCEFE3"/>
          </a:solidFill>
          <a:ln w="9525">
            <a:solidFill>
              <a:srgbClr val="DCEFE3"/>
            </a:solidFill>
            <a:prstDash val="solid"/>
          </a:ln>
        </p:spPr>
        <p:txBody>
          <a:bodyPr/>
          <a:lstStyle/>
          <a:p>
            <a:endParaRPr lang="es-GT"/>
          </a:p>
        </p:txBody>
      </p:sp>
      <p:sp>
        <p:nvSpPr>
          <p:cNvPr id="32" name="Text 30"/>
          <p:cNvSpPr txBox="1"/>
          <p:nvPr/>
        </p:nvSpPr>
        <p:spPr>
          <a:xfrm>
            <a:off x="777240" y="5212080"/>
            <a:ext cx="32004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Verified identity (ID + full name)</a:t>
            </a:r>
            <a:endParaRPr lang="en-US" sz="1400" dirty="0"/>
          </a:p>
        </p:txBody>
      </p:sp>
      <p:sp>
        <p:nvSpPr>
          <p:cNvPr id="33" name="Text 31"/>
          <p:cNvSpPr txBox="1"/>
          <p:nvPr/>
        </p:nvSpPr>
        <p:spPr>
          <a:xfrm>
            <a:off x="777240" y="5724144"/>
            <a:ext cx="3200400" cy="292608"/>
          </a:xfrm>
          <a:prstGeom prst="rect">
            <a:avLst/>
          </a:prstGeom>
          <a:noFill/>
          <a:ln/>
        </p:spPr>
        <p:txBody>
          <a:bodyPr wrap="square" lIns="0" tIns="0" rIns="0" bIns="0" rtlCol="0" anchor="t"/>
          <a:lstStyle/>
          <a:p>
            <a:pPr marL="0" indent="0">
              <a:buNone/>
            </a:pPr>
            <a:r>
              <a:rPr lang="en-US" sz="1500" b="1" dirty="0">
                <a:solidFill>
                  <a:srgbClr val="1F7A4A"/>
                </a:solidFill>
                <a:latin typeface="Calibri" pitchFamily="34" charset="0"/>
                <a:ea typeface="Calibri" pitchFamily="34" charset="-122"/>
                <a:cs typeface="Calibri" pitchFamily="34" charset="-120"/>
              </a:rPr>
              <a:t>→ Case can proceed</a:t>
            </a:r>
            <a:endParaRPr lang="en-US" sz="1500" dirty="0"/>
          </a:p>
        </p:txBody>
      </p:sp>
      <p:sp>
        <p:nvSpPr>
          <p:cNvPr id="34" name="rule10"/>
          <p:cNvSpPr/>
          <p:nvPr/>
        </p:nvSpPr>
        <p:spPr>
          <a:xfrm>
            <a:off x="4325112" y="4023360"/>
            <a:ext cx="3611880" cy="960120"/>
          </a:xfrm>
          <a:prstGeom prst="roundRect">
            <a:avLst>
              <a:gd name="adj" fmla="val 11429"/>
            </a:avLst>
          </a:prstGeom>
          <a:solidFill>
            <a:srgbClr val="F6E8CF"/>
          </a:solidFill>
          <a:ln w="9525">
            <a:solidFill>
              <a:srgbClr val="F6E8CF"/>
            </a:solidFill>
            <a:prstDash val="solid"/>
          </a:ln>
        </p:spPr>
        <p:txBody>
          <a:bodyPr/>
          <a:lstStyle/>
          <a:p>
            <a:endParaRPr lang="es-GT"/>
          </a:p>
        </p:txBody>
      </p:sp>
      <p:sp>
        <p:nvSpPr>
          <p:cNvPr id="35" name="Text 33"/>
          <p:cNvSpPr txBox="1"/>
          <p:nvPr/>
        </p:nvSpPr>
        <p:spPr>
          <a:xfrm>
            <a:off x="4553712" y="4114800"/>
            <a:ext cx="32004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US$300 to 1,500, low risk</a:t>
            </a:r>
            <a:endParaRPr lang="en-US" sz="1400" dirty="0"/>
          </a:p>
        </p:txBody>
      </p:sp>
      <p:sp>
        <p:nvSpPr>
          <p:cNvPr id="36" name="Text 34"/>
          <p:cNvSpPr txBox="1"/>
          <p:nvPr/>
        </p:nvSpPr>
        <p:spPr>
          <a:xfrm>
            <a:off x="4553712" y="4626864"/>
            <a:ext cx="3200400" cy="292608"/>
          </a:xfrm>
          <a:prstGeom prst="rect">
            <a:avLst/>
          </a:prstGeom>
          <a:noFill/>
          <a:ln/>
        </p:spPr>
        <p:txBody>
          <a:bodyPr wrap="square" lIns="0" tIns="0" rIns="0" bIns="0" rtlCol="0" anchor="t"/>
          <a:lstStyle/>
          <a:p>
            <a:pPr marL="0" indent="0">
              <a:buNone/>
            </a:pPr>
            <a:r>
              <a:rPr lang="en-US" sz="1500" b="1" dirty="0">
                <a:solidFill>
                  <a:srgbClr val="A86A12"/>
                </a:solidFill>
                <a:latin typeface="Calibri" pitchFamily="34" charset="0"/>
                <a:ea typeface="Calibri" pitchFamily="34" charset="-122"/>
                <a:cs typeface="Calibri" pitchFamily="34" charset="-120"/>
              </a:rPr>
              <a:t>→ Standard review</a:t>
            </a:r>
            <a:endParaRPr lang="en-US" sz="1500" dirty="0"/>
          </a:p>
        </p:txBody>
      </p:sp>
      <p:sp>
        <p:nvSpPr>
          <p:cNvPr id="37" name="rule11"/>
          <p:cNvSpPr/>
          <p:nvPr/>
        </p:nvSpPr>
        <p:spPr>
          <a:xfrm>
            <a:off x="4325112" y="5120640"/>
            <a:ext cx="3611880" cy="960120"/>
          </a:xfrm>
          <a:prstGeom prst="roundRect">
            <a:avLst>
              <a:gd name="adj" fmla="val 11429"/>
            </a:avLst>
          </a:prstGeom>
          <a:solidFill>
            <a:srgbClr val="F6E8CF"/>
          </a:solidFill>
          <a:ln w="9525">
            <a:solidFill>
              <a:srgbClr val="F6E8CF"/>
            </a:solidFill>
            <a:prstDash val="solid"/>
          </a:ln>
        </p:spPr>
        <p:txBody>
          <a:bodyPr/>
          <a:lstStyle/>
          <a:p>
            <a:endParaRPr lang="es-GT"/>
          </a:p>
        </p:txBody>
      </p:sp>
      <p:sp>
        <p:nvSpPr>
          <p:cNvPr id="38" name="Text 36"/>
          <p:cNvSpPr txBox="1"/>
          <p:nvPr/>
        </p:nvSpPr>
        <p:spPr>
          <a:xfrm>
            <a:off x="4553712" y="5212080"/>
            <a:ext cx="32004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3 failed ID tries or 15 min idle</a:t>
            </a:r>
            <a:endParaRPr lang="en-US" sz="1400" dirty="0"/>
          </a:p>
        </p:txBody>
      </p:sp>
      <p:sp>
        <p:nvSpPr>
          <p:cNvPr id="39" name="Text 37"/>
          <p:cNvSpPr txBox="1"/>
          <p:nvPr/>
        </p:nvSpPr>
        <p:spPr>
          <a:xfrm>
            <a:off x="4553712" y="5724144"/>
            <a:ext cx="3200400" cy="292608"/>
          </a:xfrm>
          <a:prstGeom prst="rect">
            <a:avLst/>
          </a:prstGeom>
          <a:noFill/>
          <a:ln/>
        </p:spPr>
        <p:txBody>
          <a:bodyPr wrap="square" lIns="0" tIns="0" rIns="0" bIns="0" rtlCol="0" anchor="t"/>
          <a:lstStyle/>
          <a:p>
            <a:pPr marL="0" indent="0">
              <a:buNone/>
            </a:pPr>
            <a:r>
              <a:rPr lang="en-US" sz="1500" b="1" dirty="0">
                <a:solidFill>
                  <a:srgbClr val="A86A12"/>
                </a:solidFill>
                <a:latin typeface="Calibri" pitchFamily="34" charset="0"/>
                <a:ea typeface="Calibri" pitchFamily="34" charset="-122"/>
                <a:cs typeface="Calibri" pitchFamily="34" charset="-120"/>
              </a:rPr>
              <a:t>→ Session locked</a:t>
            </a:r>
            <a:endParaRPr lang="en-US" sz="1500" dirty="0"/>
          </a:p>
        </p:txBody>
      </p:sp>
      <p:sp>
        <p:nvSpPr>
          <p:cNvPr id="40" name="rule20"/>
          <p:cNvSpPr/>
          <p:nvPr/>
        </p:nvSpPr>
        <p:spPr>
          <a:xfrm>
            <a:off x="8101584" y="4023360"/>
            <a:ext cx="3611880" cy="960120"/>
          </a:xfrm>
          <a:prstGeom prst="roundRect">
            <a:avLst>
              <a:gd name="adj" fmla="val 11429"/>
            </a:avLst>
          </a:prstGeom>
          <a:solidFill>
            <a:srgbClr val="F6DCD6"/>
          </a:solidFill>
          <a:ln w="9525">
            <a:solidFill>
              <a:srgbClr val="F6DCD6"/>
            </a:solidFill>
            <a:prstDash val="solid"/>
          </a:ln>
        </p:spPr>
        <p:txBody>
          <a:bodyPr/>
          <a:lstStyle/>
          <a:p>
            <a:endParaRPr lang="es-GT"/>
          </a:p>
        </p:txBody>
      </p:sp>
      <p:sp>
        <p:nvSpPr>
          <p:cNvPr id="41" name="Text 39"/>
          <p:cNvSpPr txBox="1"/>
          <p:nvPr/>
        </p:nvSpPr>
        <p:spPr>
          <a:xfrm>
            <a:off x="8330184" y="4114800"/>
            <a:ext cx="32004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 US$1,500</a:t>
            </a:r>
            <a:endParaRPr lang="en-US" sz="1400" dirty="0"/>
          </a:p>
        </p:txBody>
      </p:sp>
      <p:sp>
        <p:nvSpPr>
          <p:cNvPr id="42" name="Text 40"/>
          <p:cNvSpPr txBox="1"/>
          <p:nvPr/>
        </p:nvSpPr>
        <p:spPr>
          <a:xfrm>
            <a:off x="8330184" y="4626864"/>
            <a:ext cx="3200400" cy="292608"/>
          </a:xfrm>
          <a:prstGeom prst="rect">
            <a:avLst/>
          </a:prstGeom>
          <a:noFill/>
          <a:ln/>
        </p:spPr>
        <p:txBody>
          <a:bodyPr wrap="square" lIns="0" tIns="0" rIns="0" bIns="0" rtlCol="0" anchor="t"/>
          <a:lstStyle/>
          <a:p>
            <a:pPr marL="0" indent="0">
              <a:buNone/>
            </a:pPr>
            <a:r>
              <a:rPr lang="en-US" sz="1500" b="1" dirty="0">
                <a:solidFill>
                  <a:srgbClr val="B23A26"/>
                </a:solidFill>
                <a:latin typeface="Calibri" pitchFamily="34" charset="0"/>
                <a:ea typeface="Calibri" pitchFamily="34" charset="-122"/>
                <a:cs typeface="Calibri" pitchFamily="34" charset="-120"/>
              </a:rPr>
              <a:t>→ Human, mandatory</a:t>
            </a:r>
            <a:endParaRPr lang="en-US" sz="1500" dirty="0"/>
          </a:p>
        </p:txBody>
      </p:sp>
      <p:sp>
        <p:nvSpPr>
          <p:cNvPr id="43" name="rule21"/>
          <p:cNvSpPr/>
          <p:nvPr/>
        </p:nvSpPr>
        <p:spPr>
          <a:xfrm>
            <a:off x="8101584" y="5120640"/>
            <a:ext cx="3611880" cy="960120"/>
          </a:xfrm>
          <a:prstGeom prst="roundRect">
            <a:avLst>
              <a:gd name="adj" fmla="val 11429"/>
            </a:avLst>
          </a:prstGeom>
          <a:solidFill>
            <a:srgbClr val="F6DCD6"/>
          </a:solidFill>
          <a:ln w="9525">
            <a:solidFill>
              <a:srgbClr val="F6DCD6"/>
            </a:solidFill>
            <a:prstDash val="solid"/>
          </a:ln>
        </p:spPr>
        <p:txBody>
          <a:bodyPr/>
          <a:lstStyle/>
          <a:p>
            <a:endParaRPr lang="es-GT"/>
          </a:p>
        </p:txBody>
      </p:sp>
      <p:sp>
        <p:nvSpPr>
          <p:cNvPr id="44" name="Text 42"/>
          <p:cNvSpPr txBox="1"/>
          <p:nvPr/>
        </p:nvSpPr>
        <p:spPr>
          <a:xfrm>
            <a:off x="8330184" y="5212080"/>
            <a:ext cx="3200400" cy="45720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Fraud signal, Regulator channel, or high risk above US$300</a:t>
            </a:r>
            <a:endParaRPr lang="en-US" sz="1400" dirty="0"/>
          </a:p>
        </p:txBody>
      </p:sp>
      <p:sp>
        <p:nvSpPr>
          <p:cNvPr id="45" name="Text 43"/>
          <p:cNvSpPr txBox="1"/>
          <p:nvPr/>
        </p:nvSpPr>
        <p:spPr>
          <a:xfrm>
            <a:off x="8330184" y="5724144"/>
            <a:ext cx="3200400" cy="292608"/>
          </a:xfrm>
          <a:prstGeom prst="rect">
            <a:avLst/>
          </a:prstGeom>
          <a:noFill/>
          <a:ln/>
        </p:spPr>
        <p:txBody>
          <a:bodyPr wrap="square" lIns="0" tIns="0" rIns="0" bIns="0" rtlCol="0" anchor="t"/>
          <a:lstStyle/>
          <a:p>
            <a:pPr marL="0" indent="0">
              <a:buNone/>
            </a:pPr>
            <a:r>
              <a:rPr lang="en-US" sz="1500" b="1" dirty="0">
                <a:solidFill>
                  <a:srgbClr val="B23A26"/>
                </a:solidFill>
                <a:latin typeface="Calibri" pitchFamily="34" charset="0"/>
                <a:ea typeface="Calibri" pitchFamily="34" charset="-122"/>
                <a:cs typeface="Calibri" pitchFamily="34" charset="-120"/>
              </a:rPr>
              <a:t>→ Human</a:t>
            </a:r>
            <a:endParaRPr lang="en-US" sz="1500" dirty="0"/>
          </a:p>
        </p:txBody>
      </p:sp>
      <p:sp>
        <p:nvSpPr>
          <p:cNvPr id="46"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latin typeface="Calibri" pitchFamily="34" charset="0"/>
                <a:ea typeface="Calibri" pitchFamily="34" charset="-122"/>
                <a:cs typeface="Calibri" pitchFamily="34" charset="-120"/>
              </a:rPr>
              <a:t>Proof: accurate, safe and explainable</a:t>
            </a:r>
            <a:endParaRPr lang="en-US" sz="3400" dirty="0"/>
          </a:p>
        </p:txBody>
      </p:sp>
      <p:sp>
        <p:nvSpPr>
          <p:cNvPr id="3" name="mlcard"/>
          <p:cNvSpPr/>
          <p:nvPr/>
        </p:nvSpPr>
        <p:spPr>
          <a:xfrm>
            <a:off x="548640" y="1371600"/>
            <a:ext cx="5486400" cy="3429000"/>
          </a:xfrm>
          <a:prstGeom prst="roundRect">
            <a:avLst>
              <a:gd name="adj" fmla="val 3200"/>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4" name="Text 2"/>
          <p:cNvSpPr txBox="1"/>
          <p:nvPr/>
        </p:nvSpPr>
        <p:spPr>
          <a:xfrm>
            <a:off x="777240" y="1508760"/>
            <a:ext cx="5029200" cy="5486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Our models score far above the simple rules (points out of 100)</a:t>
            </a:r>
            <a:endParaRPr lang="en-US" sz="1600" dirty="0"/>
          </a:p>
        </p:txBody>
      </p:sp>
      <p:graphicFrame>
        <p:nvGraphicFramePr>
          <p:cNvPr id="5" name="Chart 0"/>
          <p:cNvGraphicFramePr/>
          <p:nvPr/>
        </p:nvGraphicFramePr>
        <p:xfrm>
          <a:off x="731520" y="2194560"/>
          <a:ext cx="5120640" cy="214884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777240" y="4389120"/>
            <a:ext cx="4937760" cy="365760"/>
          </a:xfrm>
          <a:prstGeom prst="rect">
            <a:avLst/>
          </a:prstGeom>
          <a:noFill/>
          <a:ln/>
        </p:spPr>
        <p:txBody>
          <a:bodyPr wrap="square" lIns="0" tIns="0" rIns="0" bIns="0" rtlCol="0" anchor="t"/>
          <a:lstStyle/>
          <a:p>
            <a:pPr marL="0" indent="0">
              <a:buNone/>
            </a:pPr>
            <a:r>
              <a:rPr lang="en-US" sz="1100" dirty="0">
                <a:solidFill>
                  <a:srgbClr val="647C79"/>
                </a:solidFill>
                <a:latin typeface="Calibri" pitchFamily="34" charset="0"/>
                <a:ea typeface="Calibri" pitchFamily="34" charset="-122"/>
                <a:cs typeface="Calibri" pitchFamily="34" charset="-120"/>
              </a:rPr>
              <a:t>Simple rule: a fixed keyword list for requests, one amount limit for risk. </a:t>
            </a:r>
          </a:p>
          <a:p>
            <a:pPr marL="0" indent="0">
              <a:buNone/>
            </a:pPr>
            <a:r>
              <a:rPr lang="en-US" sz="1100" dirty="0">
                <a:solidFill>
                  <a:srgbClr val="647C79"/>
                </a:solidFill>
                <a:latin typeface="Calibri" pitchFamily="34" charset="0"/>
                <a:ea typeface="Calibri" pitchFamily="34" charset="-122"/>
                <a:cs typeface="Calibri" pitchFamily="34" charset="-120"/>
              </a:rPr>
              <a:t>Our model: learns patterns from examples and combines several factors.</a:t>
            </a:r>
            <a:endParaRPr lang="en-US" sz="1100" dirty="0"/>
          </a:p>
        </p:txBody>
      </p:sp>
      <p:sp>
        <p:nvSpPr>
          <p:cNvPr id="7" name="drvcard"/>
          <p:cNvSpPr/>
          <p:nvPr/>
        </p:nvSpPr>
        <p:spPr>
          <a:xfrm>
            <a:off x="6217920" y="1371600"/>
            <a:ext cx="5394960" cy="3429000"/>
          </a:xfrm>
          <a:prstGeom prst="roundRect">
            <a:avLst>
              <a:gd name="adj" fmla="val 3200"/>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8" name="Text 5"/>
          <p:cNvSpPr txBox="1"/>
          <p:nvPr/>
        </p:nvSpPr>
        <p:spPr>
          <a:xfrm>
            <a:off x="6446520" y="1508760"/>
            <a:ext cx="4937760" cy="5486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Past complaints and amount claimed drive the risk score</a:t>
            </a:r>
            <a:endParaRPr lang="en-US" sz="1600" dirty="0"/>
          </a:p>
        </p:txBody>
      </p:sp>
      <p:graphicFrame>
        <p:nvGraphicFramePr>
          <p:cNvPr id="9" name="Chart 1"/>
          <p:cNvGraphicFramePr/>
          <p:nvPr/>
        </p:nvGraphicFramePr>
        <p:xfrm>
          <a:off x="6400800" y="2103120"/>
          <a:ext cx="5029200" cy="2606040"/>
        </p:xfrm>
        <a:graphic>
          <a:graphicData uri="http://schemas.openxmlformats.org/drawingml/2006/chart">
            <c:chart xmlns:c="http://schemas.openxmlformats.org/drawingml/2006/chart" xmlns:r="http://schemas.openxmlformats.org/officeDocument/2006/relationships" r:id="rId4"/>
          </a:graphicData>
        </a:graphic>
      </p:graphicFrame>
      <p:sp>
        <p:nvSpPr>
          <p:cNvPr id="10" name="kpi0"/>
          <p:cNvSpPr/>
          <p:nvPr/>
        </p:nvSpPr>
        <p:spPr>
          <a:xfrm>
            <a:off x="548640" y="4937760"/>
            <a:ext cx="2651760" cy="1097280"/>
          </a:xfrm>
          <a:prstGeom prst="roundRect">
            <a:avLst>
              <a:gd name="adj" fmla="val 10000"/>
            </a:avLst>
          </a:prstGeom>
          <a:solidFill>
            <a:srgbClr val="D5EBE6"/>
          </a:solidFill>
          <a:ln w="9525">
            <a:solidFill>
              <a:srgbClr val="9CC8BF"/>
            </a:solidFill>
            <a:prstDash val="solid"/>
          </a:ln>
        </p:spPr>
        <p:txBody>
          <a:bodyPr/>
          <a:lstStyle/>
          <a:p>
            <a:endParaRPr lang="es-GT"/>
          </a:p>
        </p:txBody>
      </p:sp>
      <p:sp>
        <p:nvSpPr>
          <p:cNvPr id="11" name="Text 7"/>
          <p:cNvSpPr txBox="1"/>
          <p:nvPr/>
        </p:nvSpPr>
        <p:spPr>
          <a:xfrm>
            <a:off x="731520" y="4965192"/>
            <a:ext cx="2286000" cy="548640"/>
          </a:xfrm>
          <a:prstGeom prst="rect">
            <a:avLst/>
          </a:prstGeom>
          <a:noFill/>
          <a:ln/>
        </p:spPr>
        <p:txBody>
          <a:bodyPr wrap="square" lIns="0" tIns="0" rIns="0" bIns="0" rtlCol="0" anchor="ctr"/>
          <a:lstStyle/>
          <a:p>
            <a:pPr marL="0" indent="0">
              <a:buNone/>
            </a:pPr>
            <a:r>
              <a:rPr lang="en-US" sz="3000" b="1" dirty="0">
                <a:solidFill>
                  <a:srgbClr val="0A5E55"/>
                </a:solidFill>
                <a:latin typeface="Calibri" pitchFamily="34" charset="0"/>
                <a:ea typeface="Calibri" pitchFamily="34" charset="-122"/>
                <a:cs typeface="Calibri" pitchFamily="34" charset="-120"/>
              </a:rPr>
              <a:t>61%</a:t>
            </a:r>
            <a:endParaRPr lang="en-US" sz="3000" dirty="0"/>
          </a:p>
        </p:txBody>
      </p:sp>
      <p:sp>
        <p:nvSpPr>
          <p:cNvPr id="12" name="Text 8"/>
          <p:cNvSpPr txBox="1"/>
          <p:nvPr/>
        </p:nvSpPr>
        <p:spPr>
          <a:xfrm>
            <a:off x="731520" y="5513832"/>
            <a:ext cx="2286000" cy="50292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of disputes solved with no human</a:t>
            </a:r>
            <a:endParaRPr lang="en-US" sz="1200" dirty="0"/>
          </a:p>
        </p:txBody>
      </p:sp>
      <p:sp>
        <p:nvSpPr>
          <p:cNvPr id="13" name="kpi1"/>
          <p:cNvSpPr/>
          <p:nvPr/>
        </p:nvSpPr>
        <p:spPr>
          <a:xfrm>
            <a:off x="3383280" y="4937760"/>
            <a:ext cx="2651760" cy="1097280"/>
          </a:xfrm>
          <a:prstGeom prst="roundRect">
            <a:avLst>
              <a:gd name="adj" fmla="val 10000"/>
            </a:avLst>
          </a:prstGeom>
          <a:solidFill>
            <a:srgbClr val="D5EBE6"/>
          </a:solidFill>
          <a:ln w="9525">
            <a:solidFill>
              <a:srgbClr val="9CC8BF"/>
            </a:solidFill>
            <a:prstDash val="solid"/>
          </a:ln>
        </p:spPr>
        <p:txBody>
          <a:bodyPr/>
          <a:lstStyle/>
          <a:p>
            <a:endParaRPr lang="es-GT"/>
          </a:p>
        </p:txBody>
      </p:sp>
      <p:sp>
        <p:nvSpPr>
          <p:cNvPr id="14" name="Text 10"/>
          <p:cNvSpPr txBox="1"/>
          <p:nvPr/>
        </p:nvSpPr>
        <p:spPr>
          <a:xfrm>
            <a:off x="3566160" y="4965192"/>
            <a:ext cx="2286000" cy="548640"/>
          </a:xfrm>
          <a:prstGeom prst="rect">
            <a:avLst/>
          </a:prstGeom>
          <a:noFill/>
          <a:ln/>
        </p:spPr>
        <p:txBody>
          <a:bodyPr wrap="square" lIns="0" tIns="0" rIns="0" bIns="0" rtlCol="0" anchor="ctr"/>
          <a:lstStyle/>
          <a:p>
            <a:pPr marL="0" indent="0">
              <a:buNone/>
            </a:pPr>
            <a:r>
              <a:rPr lang="en-US" sz="3000" b="1" dirty="0">
                <a:solidFill>
                  <a:srgbClr val="0A5E55"/>
                </a:solidFill>
                <a:latin typeface="Calibri" pitchFamily="34" charset="0"/>
                <a:ea typeface="Calibri" pitchFamily="34" charset="-122"/>
                <a:cs typeface="Calibri" pitchFamily="34" charset="-120"/>
              </a:rPr>
              <a:t>~1,280</a:t>
            </a:r>
            <a:endParaRPr lang="en-US" sz="3000" dirty="0"/>
          </a:p>
        </p:txBody>
      </p:sp>
      <p:sp>
        <p:nvSpPr>
          <p:cNvPr id="15" name="Text 11"/>
          <p:cNvSpPr txBox="1"/>
          <p:nvPr/>
        </p:nvSpPr>
        <p:spPr>
          <a:xfrm>
            <a:off x="3566160" y="5513832"/>
            <a:ext cx="2286000" cy="50292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disputes a year spared the 15-day wait*</a:t>
            </a:r>
            <a:endParaRPr lang="en-US" sz="1200" dirty="0"/>
          </a:p>
        </p:txBody>
      </p:sp>
      <p:sp>
        <p:nvSpPr>
          <p:cNvPr id="16" name="kpi2"/>
          <p:cNvSpPr/>
          <p:nvPr/>
        </p:nvSpPr>
        <p:spPr>
          <a:xfrm>
            <a:off x="6217920" y="4937760"/>
            <a:ext cx="2651760" cy="1097280"/>
          </a:xfrm>
          <a:prstGeom prst="roundRect">
            <a:avLst>
              <a:gd name="adj" fmla="val 10000"/>
            </a:avLst>
          </a:prstGeom>
          <a:solidFill>
            <a:srgbClr val="D5EBE6"/>
          </a:solidFill>
          <a:ln w="9525">
            <a:solidFill>
              <a:srgbClr val="9CC8BF"/>
            </a:solidFill>
            <a:prstDash val="solid"/>
          </a:ln>
        </p:spPr>
        <p:txBody>
          <a:bodyPr/>
          <a:lstStyle/>
          <a:p>
            <a:endParaRPr lang="es-GT"/>
          </a:p>
        </p:txBody>
      </p:sp>
      <p:sp>
        <p:nvSpPr>
          <p:cNvPr id="17" name="Text 13"/>
          <p:cNvSpPr txBox="1"/>
          <p:nvPr/>
        </p:nvSpPr>
        <p:spPr>
          <a:xfrm>
            <a:off x="6400800" y="4965192"/>
            <a:ext cx="2286000" cy="548640"/>
          </a:xfrm>
          <a:prstGeom prst="rect">
            <a:avLst/>
          </a:prstGeom>
          <a:noFill/>
          <a:ln/>
        </p:spPr>
        <p:txBody>
          <a:bodyPr wrap="square" lIns="0" tIns="0" rIns="0" bIns="0" rtlCol="0" anchor="ctr"/>
          <a:lstStyle/>
          <a:p>
            <a:pPr marL="0" indent="0">
              <a:buNone/>
            </a:pPr>
            <a:r>
              <a:rPr lang="en-US" sz="3000" b="1" dirty="0">
                <a:solidFill>
                  <a:srgbClr val="0A5E55"/>
                </a:solidFill>
                <a:latin typeface="Calibri" pitchFamily="34" charset="0"/>
                <a:ea typeface="Calibri" pitchFamily="34" charset="-122"/>
                <a:cs typeface="Calibri" pitchFamily="34" charset="-120"/>
              </a:rPr>
              <a:t>0</a:t>
            </a:r>
            <a:endParaRPr lang="en-US" sz="3000" dirty="0"/>
          </a:p>
        </p:txBody>
      </p:sp>
      <p:sp>
        <p:nvSpPr>
          <p:cNvPr id="18" name="Text 14"/>
          <p:cNvSpPr txBox="1"/>
          <p:nvPr/>
        </p:nvSpPr>
        <p:spPr>
          <a:xfrm>
            <a:off x="6400800" y="5513832"/>
            <a:ext cx="2286000" cy="50292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unsafe cases in 21 manipulation attempts</a:t>
            </a:r>
            <a:endParaRPr lang="en-US" sz="1200" dirty="0"/>
          </a:p>
        </p:txBody>
      </p:sp>
      <p:sp>
        <p:nvSpPr>
          <p:cNvPr id="19" name="kpi3"/>
          <p:cNvSpPr/>
          <p:nvPr/>
        </p:nvSpPr>
        <p:spPr>
          <a:xfrm>
            <a:off x="9052560" y="4937760"/>
            <a:ext cx="2651760" cy="1097280"/>
          </a:xfrm>
          <a:prstGeom prst="roundRect">
            <a:avLst>
              <a:gd name="adj" fmla="val 10000"/>
            </a:avLst>
          </a:prstGeom>
          <a:solidFill>
            <a:srgbClr val="D5EBE6"/>
          </a:solidFill>
          <a:ln w="9525">
            <a:solidFill>
              <a:srgbClr val="9CC8BF"/>
            </a:solidFill>
            <a:prstDash val="solid"/>
          </a:ln>
        </p:spPr>
        <p:txBody>
          <a:bodyPr/>
          <a:lstStyle/>
          <a:p>
            <a:endParaRPr lang="es-GT"/>
          </a:p>
        </p:txBody>
      </p:sp>
      <p:sp>
        <p:nvSpPr>
          <p:cNvPr id="20" name="Text 16"/>
          <p:cNvSpPr txBox="1"/>
          <p:nvPr/>
        </p:nvSpPr>
        <p:spPr>
          <a:xfrm>
            <a:off x="9235440" y="4965192"/>
            <a:ext cx="2286000" cy="548640"/>
          </a:xfrm>
          <a:prstGeom prst="rect">
            <a:avLst/>
          </a:prstGeom>
          <a:noFill/>
          <a:ln/>
        </p:spPr>
        <p:txBody>
          <a:bodyPr wrap="square" lIns="0" tIns="0" rIns="0" bIns="0" rtlCol="0" anchor="ctr"/>
          <a:lstStyle/>
          <a:p>
            <a:pPr marL="0" indent="0">
              <a:buNone/>
            </a:pPr>
            <a:r>
              <a:rPr lang="en-US" sz="3000" b="1" dirty="0">
                <a:solidFill>
                  <a:srgbClr val="0A5E55"/>
                </a:solidFill>
                <a:latin typeface="Calibri" pitchFamily="34" charset="0"/>
                <a:ea typeface="Calibri" pitchFamily="34" charset="-122"/>
                <a:cs typeface="Calibri" pitchFamily="34" charset="-120"/>
              </a:rPr>
              <a:t>~20 ms</a:t>
            </a:r>
            <a:endParaRPr lang="en-US" sz="3000" dirty="0"/>
          </a:p>
        </p:txBody>
      </p:sp>
      <p:sp>
        <p:nvSpPr>
          <p:cNvPr id="21" name="Text 17"/>
          <p:cNvSpPr txBox="1"/>
          <p:nvPr/>
        </p:nvSpPr>
        <p:spPr>
          <a:xfrm>
            <a:off x="9235440" y="5513832"/>
            <a:ext cx="2286000" cy="502920"/>
          </a:xfrm>
          <a:prstGeom prst="rect">
            <a:avLst/>
          </a:prstGeom>
          <a:noFill/>
          <a:ln/>
        </p:spPr>
        <p:txBody>
          <a:bodyPr wrap="square" lIns="0" tIns="0" rIns="0" bIns="0" rtlCol="0" anchor="t"/>
          <a:lstStyle/>
          <a:p>
            <a:pPr marL="0" indent="0">
              <a:buNone/>
            </a:pPr>
            <a:r>
              <a:rPr lang="en-US" sz="1200" dirty="0">
                <a:solidFill>
                  <a:schemeClr val="tx1"/>
                </a:solidFill>
                <a:latin typeface="Calibri" pitchFamily="34" charset="0"/>
                <a:ea typeface="Calibri" pitchFamily="34" charset="-122"/>
                <a:cs typeface="Calibri" pitchFamily="34" charset="-120"/>
              </a:rPr>
              <a:t>per turn, without the AI model</a:t>
            </a:r>
            <a:endParaRPr lang="en-US" sz="12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chemeClr val="tx1"/>
                </a:solidFill>
                <a:latin typeface="Calibri" pitchFamily="34" charset="0"/>
                <a:ea typeface="Calibri" pitchFamily="34" charset="-122"/>
                <a:cs typeface="Calibri" pitchFamily="34" charset="-120"/>
              </a:rPr>
              <a:t>Ready for a pilot: what comes next</a:t>
            </a:r>
            <a:endParaRPr lang="en-US" sz="3400" dirty="0"/>
          </a:p>
        </p:txBody>
      </p:sp>
      <p:sp>
        <p:nvSpPr>
          <p:cNvPr id="3" name="phase0"/>
          <p:cNvSpPr/>
          <p:nvPr/>
        </p:nvSpPr>
        <p:spPr>
          <a:xfrm>
            <a:off x="548640" y="1371600"/>
            <a:ext cx="3611880" cy="2880360"/>
          </a:xfrm>
          <a:prstGeom prst="roundRect">
            <a:avLst>
              <a:gd name="adj" fmla="val 3810"/>
            </a:avLst>
          </a:prstGeom>
          <a:solidFill>
            <a:srgbClr val="D5EBE6"/>
          </a:solidFill>
          <a:ln w="9525">
            <a:solidFill>
              <a:srgbClr val="9CC8BF"/>
            </a:solidFill>
            <a:prstDash val="solid"/>
          </a:ln>
          <a:effectLst>
            <a:outerShdw blurRad="127000" dist="38100" dir="5400000" algn="bl" rotWithShape="0">
              <a:srgbClr val="0E2B2A">
                <a:alpha val="12000"/>
              </a:srgbClr>
            </a:outerShdw>
          </a:effectLst>
        </p:spPr>
        <p:txBody>
          <a:bodyPr/>
          <a:lstStyle/>
          <a:p>
            <a:endParaRPr lang="es-GT"/>
          </a:p>
        </p:txBody>
      </p:sp>
      <p:sp>
        <p:nvSpPr>
          <p:cNvPr id="4" name="pnum0"/>
          <p:cNvSpPr/>
          <p:nvPr/>
        </p:nvSpPr>
        <p:spPr>
          <a:xfrm>
            <a:off x="822960" y="1600200"/>
            <a:ext cx="502920" cy="502920"/>
          </a:xfrm>
          <a:prstGeom prst="ellipse">
            <a:avLst/>
          </a:prstGeom>
          <a:solidFill>
            <a:srgbClr val="0E7C70"/>
          </a:solidFill>
          <a:ln/>
        </p:spPr>
        <p:txBody>
          <a:bodyPr/>
          <a:lstStyle/>
          <a:p>
            <a:endParaRPr lang="es-GT"/>
          </a:p>
        </p:txBody>
      </p:sp>
      <p:sp>
        <p:nvSpPr>
          <p:cNvPr id="5" name="Text 3"/>
          <p:cNvSpPr txBox="1"/>
          <p:nvPr/>
        </p:nvSpPr>
        <p:spPr>
          <a:xfrm>
            <a:off x="822960"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6" name="Text 4"/>
          <p:cNvSpPr txBox="1"/>
          <p:nvPr/>
        </p:nvSpPr>
        <p:spPr>
          <a:xfrm>
            <a:off x="1508760" y="1572768"/>
            <a:ext cx="2468880" cy="59436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Pilot</a:t>
            </a:r>
            <a:endParaRPr lang="en-US" sz="2000" dirty="0"/>
          </a:p>
          <a:p>
            <a:pPr marL="0" indent="0">
              <a:buNone/>
            </a:pPr>
            <a:r>
              <a:rPr lang="en-US" sz="1200" dirty="0">
                <a:solidFill>
                  <a:srgbClr val="647C79"/>
                </a:solidFill>
                <a:latin typeface="Calibri" pitchFamily="34" charset="0"/>
                <a:ea typeface="Calibri" pitchFamily="34" charset="-122"/>
                <a:cs typeface="Calibri" pitchFamily="34" charset="-120"/>
              </a:rPr>
              <a:t>Now</a:t>
            </a:r>
            <a:endParaRPr lang="en-US" sz="2000" dirty="0"/>
          </a:p>
        </p:txBody>
      </p:sp>
      <p:sp>
        <p:nvSpPr>
          <p:cNvPr id="7" name="Text 5"/>
          <p:cNvSpPr txBox="1"/>
          <p:nvPr/>
        </p:nvSpPr>
        <p:spPr>
          <a:xfrm>
            <a:off x="822960" y="2331720"/>
            <a:ext cx="31089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Connect Banco LATAM sign-in, customers and core systems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Run in shadow mode on real disputes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Human specialists keep the final word</a:t>
            </a:r>
            <a:endParaRPr lang="en-US" sz="1400" dirty="0"/>
          </a:p>
        </p:txBody>
      </p:sp>
      <p:sp>
        <p:nvSpPr>
          <p:cNvPr id="8" name="Text 6"/>
          <p:cNvSpPr txBox="1"/>
          <p:nvPr/>
        </p:nvSpPr>
        <p:spPr>
          <a:xfrm>
            <a:off x="4160520" y="2651760"/>
            <a:ext cx="164592" cy="457200"/>
          </a:xfrm>
          <a:prstGeom prst="rect">
            <a:avLst/>
          </a:prstGeom>
          <a:noFill/>
          <a:ln/>
        </p:spPr>
        <p:txBody>
          <a:bodyPr wrap="square" lIns="0" tIns="0" rIns="0" bIns="0" rtlCol="0" anchor="ctr"/>
          <a:lstStyle/>
          <a:p>
            <a:pPr marL="0" indent="0" algn="ctr">
              <a:buNone/>
            </a:pPr>
            <a:r>
              <a:rPr lang="en-US" sz="2400" b="1" dirty="0">
                <a:solidFill>
                  <a:srgbClr val="647C79"/>
                </a:solidFill>
              </a:rPr>
              <a:t>›</a:t>
            </a:r>
            <a:endParaRPr lang="en-US" sz="2400" dirty="0"/>
          </a:p>
        </p:txBody>
      </p:sp>
      <p:sp>
        <p:nvSpPr>
          <p:cNvPr id="9" name="phase1"/>
          <p:cNvSpPr/>
          <p:nvPr/>
        </p:nvSpPr>
        <p:spPr>
          <a:xfrm>
            <a:off x="4325112" y="1371600"/>
            <a:ext cx="3611880" cy="2880360"/>
          </a:xfrm>
          <a:prstGeom prst="roundRect">
            <a:avLst>
              <a:gd name="adj" fmla="val 3810"/>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10" name="pnum1"/>
          <p:cNvSpPr/>
          <p:nvPr/>
        </p:nvSpPr>
        <p:spPr>
          <a:xfrm>
            <a:off x="4599432" y="1600200"/>
            <a:ext cx="502920" cy="502920"/>
          </a:xfrm>
          <a:prstGeom prst="ellipse">
            <a:avLst/>
          </a:prstGeom>
          <a:solidFill>
            <a:srgbClr val="0E7C70"/>
          </a:solidFill>
          <a:ln/>
        </p:spPr>
        <p:txBody>
          <a:bodyPr/>
          <a:lstStyle/>
          <a:p>
            <a:endParaRPr lang="es-GT"/>
          </a:p>
        </p:txBody>
      </p:sp>
      <p:sp>
        <p:nvSpPr>
          <p:cNvPr id="11" name="Text 9"/>
          <p:cNvSpPr txBox="1"/>
          <p:nvPr/>
        </p:nvSpPr>
        <p:spPr>
          <a:xfrm>
            <a:off x="4599432"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2" name="Text 10"/>
          <p:cNvSpPr txBox="1"/>
          <p:nvPr/>
        </p:nvSpPr>
        <p:spPr>
          <a:xfrm>
            <a:off x="5285232" y="1572768"/>
            <a:ext cx="2468880" cy="59436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Validate</a:t>
            </a:r>
            <a:endParaRPr lang="en-US" sz="2000" dirty="0"/>
          </a:p>
          <a:p>
            <a:pPr marL="0" indent="0">
              <a:buNone/>
            </a:pPr>
            <a:r>
              <a:rPr lang="en-US" sz="1200" dirty="0">
                <a:solidFill>
                  <a:srgbClr val="647C79"/>
                </a:solidFill>
                <a:latin typeface="Calibri" pitchFamily="34" charset="0"/>
                <a:ea typeface="Calibri" pitchFamily="34" charset="-122"/>
                <a:cs typeface="Calibri" pitchFamily="34" charset="-120"/>
              </a:rPr>
              <a:t>Next</a:t>
            </a:r>
            <a:endParaRPr lang="en-US" sz="2000" dirty="0"/>
          </a:p>
        </p:txBody>
      </p:sp>
      <p:sp>
        <p:nvSpPr>
          <p:cNvPr id="13" name="Text 11"/>
          <p:cNvSpPr txBox="1"/>
          <p:nvPr/>
        </p:nvSpPr>
        <p:spPr>
          <a:xfrm>
            <a:off x="4599432" y="2331720"/>
            <a:ext cx="31089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Train risk on real outcomes, not our rule</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Test with real Spanish and Portuguese conversations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Persistent audit log, load and injection tests</a:t>
            </a:r>
            <a:endParaRPr lang="en-US" sz="1400" dirty="0"/>
          </a:p>
        </p:txBody>
      </p:sp>
      <p:sp>
        <p:nvSpPr>
          <p:cNvPr id="14" name="Text 12"/>
          <p:cNvSpPr txBox="1"/>
          <p:nvPr/>
        </p:nvSpPr>
        <p:spPr>
          <a:xfrm>
            <a:off x="7936992" y="2651760"/>
            <a:ext cx="164592" cy="457200"/>
          </a:xfrm>
          <a:prstGeom prst="rect">
            <a:avLst/>
          </a:prstGeom>
          <a:noFill/>
          <a:ln/>
        </p:spPr>
        <p:txBody>
          <a:bodyPr wrap="square" lIns="0" tIns="0" rIns="0" bIns="0" rtlCol="0" anchor="ctr"/>
          <a:lstStyle/>
          <a:p>
            <a:pPr marL="0" indent="0" algn="ctr">
              <a:buNone/>
            </a:pPr>
            <a:r>
              <a:rPr lang="en-US" sz="2400" b="1" dirty="0">
                <a:solidFill>
                  <a:srgbClr val="647C79"/>
                </a:solidFill>
              </a:rPr>
              <a:t>›</a:t>
            </a:r>
            <a:endParaRPr lang="en-US" sz="2400" dirty="0"/>
          </a:p>
        </p:txBody>
      </p:sp>
      <p:sp>
        <p:nvSpPr>
          <p:cNvPr id="15" name="phase2"/>
          <p:cNvSpPr/>
          <p:nvPr/>
        </p:nvSpPr>
        <p:spPr>
          <a:xfrm>
            <a:off x="8101584" y="1371600"/>
            <a:ext cx="3611880" cy="2880360"/>
          </a:xfrm>
          <a:prstGeom prst="roundRect">
            <a:avLst>
              <a:gd name="adj" fmla="val 3810"/>
            </a:avLst>
          </a:prstGeom>
          <a:solidFill>
            <a:schemeClr val="bg1"/>
          </a:solidFill>
          <a:ln w="9525">
            <a:solidFill>
              <a:srgbClr val="C9D6D2"/>
            </a:solidFill>
            <a:prstDash val="solid"/>
          </a:ln>
          <a:effectLst>
            <a:outerShdw blurRad="127000" dist="38100" dir="5400000" algn="bl" rotWithShape="0">
              <a:srgbClr val="0E2B2A">
                <a:alpha val="12000"/>
              </a:srgbClr>
            </a:outerShdw>
          </a:effectLst>
        </p:spPr>
        <p:txBody>
          <a:bodyPr/>
          <a:lstStyle/>
          <a:p>
            <a:endParaRPr lang="es-GT"/>
          </a:p>
        </p:txBody>
      </p:sp>
      <p:sp>
        <p:nvSpPr>
          <p:cNvPr id="16" name="pnum2"/>
          <p:cNvSpPr/>
          <p:nvPr/>
        </p:nvSpPr>
        <p:spPr>
          <a:xfrm>
            <a:off x="8375904" y="1600200"/>
            <a:ext cx="502920" cy="502920"/>
          </a:xfrm>
          <a:prstGeom prst="ellipse">
            <a:avLst/>
          </a:prstGeom>
          <a:solidFill>
            <a:srgbClr val="0E7C70"/>
          </a:solidFill>
          <a:ln/>
        </p:spPr>
        <p:txBody>
          <a:bodyPr/>
          <a:lstStyle/>
          <a:p>
            <a:endParaRPr lang="es-GT"/>
          </a:p>
        </p:txBody>
      </p:sp>
      <p:sp>
        <p:nvSpPr>
          <p:cNvPr id="17" name="Text 15"/>
          <p:cNvSpPr txBox="1"/>
          <p:nvPr/>
        </p:nvSpPr>
        <p:spPr>
          <a:xfrm>
            <a:off x="8375904" y="1600200"/>
            <a:ext cx="502920" cy="502920"/>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8" name="Text 16"/>
          <p:cNvSpPr txBox="1"/>
          <p:nvPr/>
        </p:nvSpPr>
        <p:spPr>
          <a:xfrm>
            <a:off x="9061704" y="1572768"/>
            <a:ext cx="2468880" cy="59436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Scale</a:t>
            </a:r>
            <a:endParaRPr lang="en-US" sz="2000" dirty="0"/>
          </a:p>
          <a:p>
            <a:pPr marL="0" indent="0">
              <a:buNone/>
            </a:pPr>
            <a:r>
              <a:rPr lang="en-US" sz="1200" dirty="0">
                <a:solidFill>
                  <a:srgbClr val="647C79"/>
                </a:solidFill>
                <a:latin typeface="Calibri" pitchFamily="34" charset="0"/>
                <a:ea typeface="Calibri" pitchFamily="34" charset="-122"/>
                <a:cs typeface="Calibri" pitchFamily="34" charset="-120"/>
              </a:rPr>
              <a:t>Then</a:t>
            </a:r>
            <a:endParaRPr lang="en-US" sz="2000" dirty="0"/>
          </a:p>
        </p:txBody>
      </p:sp>
      <p:sp>
        <p:nvSpPr>
          <p:cNvPr id="19" name="Text 17"/>
          <p:cNvSpPr txBox="1"/>
          <p:nvPr/>
        </p:nvSpPr>
        <p:spPr>
          <a:xfrm>
            <a:off x="8375904" y="2331720"/>
            <a:ext cx="3108960" cy="1828800"/>
          </a:xfrm>
          <a:prstGeom prst="rect">
            <a:avLst/>
          </a:prstGeom>
          <a:noFill/>
          <a:ln/>
        </p:spPr>
        <p:txBody>
          <a:bodyPr wrap="square" lIns="0" tIns="0" rIns="0" bIns="0" rtlCol="0" anchor="t"/>
          <a:lstStyle/>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More languages and channels</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Periodic retraining and monitoring</a:t>
            </a:r>
            <a:endParaRPr lang="en-US" sz="1400" dirty="0"/>
          </a:p>
          <a:p>
            <a:pPr marL="342900" indent="-342900">
              <a:spcAft>
                <a:spcPts val="800"/>
              </a:spcAft>
              <a:buSzPct val="100000"/>
              <a:buChar char="•"/>
            </a:pPr>
            <a:r>
              <a:rPr lang="en-US" sz="1400" dirty="0">
                <a:solidFill>
                  <a:schemeClr val="tx1"/>
                </a:solidFill>
                <a:latin typeface="Calibri" pitchFamily="34" charset="0"/>
                <a:ea typeface="Calibri" pitchFamily="34" charset="-122"/>
                <a:cs typeface="Calibri" pitchFamily="34" charset="-120"/>
              </a:rPr>
              <a:t>PII protection, compliance, separate environments</a:t>
            </a:r>
            <a:endParaRPr lang="en-US" sz="1400" dirty="0"/>
          </a:p>
        </p:txBody>
      </p:sp>
      <p:sp>
        <p:nvSpPr>
          <p:cNvPr id="20" name="limits"/>
          <p:cNvSpPr/>
          <p:nvPr/>
        </p:nvSpPr>
        <p:spPr>
          <a:xfrm>
            <a:off x="548640" y="4389120"/>
            <a:ext cx="11018520" cy="1280160"/>
          </a:xfrm>
          <a:prstGeom prst="roundRect">
            <a:avLst>
              <a:gd name="adj" fmla="val 8571"/>
            </a:avLst>
          </a:prstGeom>
          <a:solidFill>
            <a:schemeClr val="bg1"/>
          </a:solidFill>
          <a:ln w="9525">
            <a:solidFill>
              <a:srgbClr val="C9D6D2"/>
            </a:solidFill>
            <a:prstDash val="solid"/>
          </a:ln>
        </p:spPr>
        <p:txBody>
          <a:bodyPr/>
          <a:lstStyle/>
          <a:p>
            <a:endParaRPr lang="es-GT"/>
          </a:p>
        </p:txBody>
      </p:sp>
      <p:sp>
        <p:nvSpPr>
          <p:cNvPr id="21" name="Text 19"/>
          <p:cNvSpPr txBox="1"/>
          <p:nvPr/>
        </p:nvSpPr>
        <p:spPr>
          <a:xfrm>
            <a:off x="822960" y="4462272"/>
            <a:ext cx="4572000" cy="320040"/>
          </a:xfrm>
          <a:prstGeom prst="rect">
            <a:avLst/>
          </a:prstGeom>
          <a:noFill/>
          <a:ln/>
        </p:spPr>
        <p:txBody>
          <a:bodyPr wrap="square" lIns="0" tIns="0" rIns="0" bIns="0" rtlCol="0" anchor="t"/>
          <a:lstStyle/>
          <a:p>
            <a:pPr marL="0" indent="0">
              <a:buNone/>
            </a:pPr>
            <a:r>
              <a:rPr lang="en-US" sz="1400" b="1" dirty="0">
                <a:solidFill>
                  <a:srgbClr val="A86A12"/>
                </a:solidFill>
                <a:latin typeface="Calibri" pitchFamily="34" charset="0"/>
                <a:ea typeface="Calibri" pitchFamily="34" charset="-122"/>
                <a:cs typeface="Calibri" pitchFamily="34" charset="-120"/>
              </a:rPr>
              <a:t>Limits we are upfront about</a:t>
            </a:r>
            <a:endParaRPr lang="en-US" sz="1400" dirty="0"/>
          </a:p>
        </p:txBody>
      </p:sp>
      <p:sp>
        <p:nvSpPr>
          <p:cNvPr id="22" name="Text 20"/>
          <p:cNvSpPr txBox="1"/>
          <p:nvPr/>
        </p:nvSpPr>
        <p:spPr>
          <a:xfrm>
            <a:off x="822960" y="4800600"/>
            <a:ext cx="10424160" cy="82296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Dataset is 100% Spanish, so Portuguese cases are synthetic  ·  Risk label is our documented rule, not the bank's  ·  Intent phrases are synthetic  ·  57% of transactions lack a USD amount  ·  Friendly fraud is not detected (exposure capped at US$300 per case)  ·  Demo sign-in is document + name, not strong authentication</a:t>
            </a:r>
            <a:endParaRPr lang="en-US" sz="1400" dirty="0"/>
          </a:p>
        </p:txBody>
      </p:sp>
      <p:sp>
        <p:nvSpPr>
          <p:cNvPr id="23" name="closer"/>
          <p:cNvSpPr/>
          <p:nvPr/>
        </p:nvSpPr>
        <p:spPr>
          <a:xfrm>
            <a:off x="548640" y="5760720"/>
            <a:ext cx="11018520" cy="548640"/>
          </a:xfrm>
          <a:prstGeom prst="roundRect">
            <a:avLst>
              <a:gd name="adj" fmla="val 20000"/>
            </a:avLst>
          </a:prstGeom>
          <a:solidFill>
            <a:srgbClr val="0E2B2A"/>
          </a:solidFill>
          <a:ln w="9525">
            <a:solidFill>
              <a:srgbClr val="0E2B2A"/>
            </a:solidFill>
            <a:prstDash val="solid"/>
          </a:ln>
        </p:spPr>
        <p:txBody>
          <a:bodyPr/>
          <a:lstStyle/>
          <a:p>
            <a:endParaRPr lang="es-GT"/>
          </a:p>
        </p:txBody>
      </p:sp>
      <p:sp>
        <p:nvSpPr>
          <p:cNvPr id="24" name="Text 22"/>
          <p:cNvSpPr txBox="1"/>
          <p:nvPr/>
        </p:nvSpPr>
        <p:spPr>
          <a:xfrm>
            <a:off x="822960" y="5760720"/>
            <a:ext cx="10515600" cy="548640"/>
          </a:xfrm>
          <a:prstGeom prst="rect">
            <a:avLst/>
          </a:prstGeom>
          <a:noFill/>
          <a:ln/>
        </p:spPr>
        <p:txBody>
          <a:bodyPr wrap="square" lIns="0" tIns="0" rIns="0" bIns="0" rtlCol="0" anchor="ctr"/>
          <a:lstStyle/>
          <a:p>
            <a:pPr marL="0" indent="0">
              <a:buNone/>
            </a:pPr>
            <a:r>
              <a:rPr lang="en-US" sz="1400" b="1" dirty="0">
                <a:solidFill>
                  <a:schemeClr val="bg1"/>
                </a:solidFill>
                <a:latin typeface="Calibri" pitchFamily="34" charset="0"/>
                <a:ea typeface="Calibri" pitchFamily="34" charset="-122"/>
                <a:cs typeface="Calibri" pitchFamily="34" charset="-120"/>
              </a:rPr>
              <a:t>The permission gate is solid and tested. Link: disputas-datamastersgt.onrender.com</a:t>
            </a:r>
            <a:endParaRPr lang="en-US" sz="1400" dirty="0"/>
          </a:p>
        </p:txBody>
      </p:sp>
      <p:sp>
        <p:nvSpPr>
          <p:cNvPr id="25" name="Slide Number Placeholder 0"/>
          <p:cNvSpPr>
            <a:spLocks noGrp="1"/>
          </p:cNvSpPr>
          <p:nvPr>
            <p:ph type="sldNum" sz="quarter" idx="4294967295"/>
          </p:nvPr>
        </p:nvSpPr>
        <p:spPr>
          <a:xfrm>
            <a:off x="1124712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l"/>
            <a:fld id="{F7021451-1387-4CA6-816F-3879F97B5CBC}" type="slidenum">
              <a:rPr lang="en-US" b="0"/>
              <a:t>6</a:t>
            </a:fld>
            <a:endParaRPr lang="en-US"/>
          </a:p>
        </p:txBody>
      </p:sp>
    </p:spTree>
  </p:cSld>
  <p:clrMapOvr>
    <a:masterClrMapping/>
  </p:clrMapOvr>
</p:sld>
</file>

<file path=ppt/theme/theme1.xml><?xml version="1.0" encoding="utf-8"?>
<a:theme xmlns:a="http://schemas.openxmlformats.org/drawingml/2006/main" name="Disputes">
  <a:themeElements>
    <a:clrScheme name="Disputes">
      <a:dk1>
        <a:srgbClr val="0E2B2A"/>
      </a:dk1>
      <a:lt1>
        <a:srgbClr val="FFFFFF"/>
      </a:lt1>
      <a:dk2>
        <a:srgbClr val="0A5E55"/>
      </a:dk2>
      <a:lt2>
        <a:srgbClr val="EEF3F1"/>
      </a:lt2>
      <a:accent1>
        <a:srgbClr val="0E7C70"/>
      </a:accent1>
      <a:accent2>
        <a:srgbClr val="1F7A4A"/>
      </a:accent2>
      <a:accent3>
        <a:srgbClr val="A86A12"/>
      </a:accent3>
      <a:accent4>
        <a:srgbClr val="B23A26"/>
      </a:accent4>
      <a:accent5>
        <a:srgbClr val="9CC8BF"/>
      </a:accent5>
      <a:accent6>
        <a:srgbClr val="647C79"/>
      </a:accent6>
      <a:hlink>
        <a:srgbClr val="0E7C70"/>
      </a:hlink>
      <a:folHlink>
        <a:srgbClr val="647C79"/>
      </a:folHlink>
    </a:clrScheme>
    <a:fontScheme name="Disputes">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1310</Words>
  <Application>Microsoft Office PowerPoint</Application>
  <PresentationFormat>Panorámica</PresentationFormat>
  <Paragraphs>113</Paragraphs>
  <Slides>6</Slides>
  <Notes>6</Notes>
  <HiddenSlides>0</HiddenSlides>
  <MMClips>0</MMClips>
  <ScaleCrop>false</ScaleCrop>
  <HeadingPairs>
    <vt:vector size="6" baseType="variant">
      <vt:variant>
        <vt:lpstr>Fuentes usadas</vt:lpstr>
      </vt:variant>
      <vt:variant>
        <vt:i4>2</vt:i4>
      </vt:variant>
      <vt:variant>
        <vt:lpstr>Tema</vt:lpstr>
      </vt:variant>
      <vt:variant>
        <vt:i4>1</vt:i4>
      </vt:variant>
      <vt:variant>
        <vt:lpstr>Títulos de diapositiva</vt:lpstr>
      </vt:variant>
      <vt:variant>
        <vt:i4>6</vt:i4>
      </vt:variant>
    </vt:vector>
  </HeadingPairs>
  <TitlesOfParts>
    <vt:vector size="9" baseType="lpstr">
      <vt:lpstr>Arial</vt:lpstr>
      <vt:lpstr>Calibri</vt:lpstr>
      <vt:lpstr>Disputes</vt:lpstr>
      <vt:lpstr>Presentación de PowerPoint</vt:lpstr>
      <vt:lpstr>A customer waits 15 days. Triage does not help</vt:lpstr>
      <vt:lpstr>What it looks like: one conversation, three outcomes</vt:lpstr>
      <vt:lpstr>Why a bank can trust it: the model talks, the code decides</vt:lpstr>
      <vt:lpstr>Proof: accurate, safe and explainable</vt:lpstr>
      <vt:lpstr>Ready for a pilot: what comes next</vt:lpstr>
    </vt:vector>
  </TitlesOfParts>
  <Company>DataMastersGT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Disputes with limits</dc:title>
  <dc:subject>PptxGenJS Presentation</dc:subject>
  <dc:creator>DataMastersGT</dc:creator>
  <cp:lastModifiedBy>DIAZ BAUTISTA, MARCOS SANTIAGO</cp:lastModifiedBy>
  <cp:revision>2</cp:revision>
  <dcterms:created xsi:type="dcterms:W3CDTF">2026-10-05T22:42:47Z</dcterms:created>
  <dcterms:modified xsi:type="dcterms:W3CDTF">2026-10-05T22:46:18Z</dcterms:modified>
</cp:coreProperties>
</file>